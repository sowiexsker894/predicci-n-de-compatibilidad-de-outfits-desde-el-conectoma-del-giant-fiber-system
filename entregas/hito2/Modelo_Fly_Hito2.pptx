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ortada" id="{5710fa96-d36d-c312-ee44-984ec939e4e4}">
          <p14:sldIdLst>
            <p14:sldId id="256"/>
          </p14:sldIdLst>
        </p14:section>
        <p14:section name="Contexto" id="{7d682134-ce4d-17cc-f6f4-aba90132078f}">
          <p14:sldIdLst>
            <p14:sldId id="257"/>
            <p14:sldId id="258"/>
          </p14:sldIdLst>
        </p14:section>
        <p14:section name="Datos" id="{0bc49e18-56fb-6029-44bc-4cde6afbd10a}">
          <p14:sldIdLst>
            <p14:sldId id="259"/>
            <p14:sldId id="260"/>
          </p14:sldIdLst>
        </p14:section>
        <p14:section name="Modelado" id="{77b0bd18-0d5f-8a96-51ee-90ab952e324a}">
          <p14:sldIdLst>
            <p14:sldId id="261"/>
            <p14:sldId id="262"/>
            <p14:sldId id="263"/>
            <p14:sldId id="264"/>
          </p14:sldIdLst>
        </p14:section>
        <p14:section name="Cierre" id="{1478260c-5b2a-e254-4020-0488975e2c20}">
          <p14:sldIdLst>
            <p14:sldId id="265"/>
            <p14:sldId id="266"/>
            <p14:sldId id="267"/>
          </p14:sldIdLst>
        </p14:section>
        <p14:section name="Respaldo" id="{9ad7de99-c106-5e6c-110f-52415edb8886}">
          <p14:sldIdLst>
            <p14:sldId id="268"/>
            <p14:sldId id="269"/>
            <p14:sldId id="270"/>
            <p14:sldId id="271"/>
            <p14:sldId id="272"/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41B33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41B33"/>
                </a:solidFill>
                <a:latin typeface="+mn-lt"/>
              </a:rPr>
              <a:t>Tasa de compatibilidad según coincidencia entre prendas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Coinciden</c:v>
                </c:pt>
              </c:strCache>
            </c:strRef>
          </c:tx>
          <c:spPr>
            <a:solidFill>
              <a:srgbClr val="D90F27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41B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Época</c:v>
                  </c:pt>
                  <c:pt idx="1">
                    <c:v>Color</c:v>
                  </c:pt>
                  <c:pt idx="2">
                    <c:v>Patrón</c:v>
                  </c:pt>
                  <c:pt idx="3">
                    <c:v>Estilo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0.433</c:v>
                </c:pt>
                <c:pt idx="1">
                  <c:v>0.444</c:v>
                </c:pt>
                <c:pt idx="2">
                  <c:v>0.509</c:v>
                </c:pt>
                <c:pt idx="3">
                  <c:v>0.72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No coinciden</c:v>
                </c:pt>
              </c:strCache>
            </c:strRef>
          </c:tx>
          <c:spPr>
            <a:solidFill>
              <a:srgbClr val="141B33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41B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Época</c:v>
                  </c:pt>
                  <c:pt idx="1">
                    <c:v>Color</c:v>
                  </c:pt>
                  <c:pt idx="2">
                    <c:v>Patrón</c:v>
                  </c:pt>
                  <c:pt idx="3">
                    <c:v>Estilo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0.769</c:v>
                </c:pt>
                <c:pt idx="1">
                  <c:v>0.757</c:v>
                </c:pt>
                <c:pt idx="2">
                  <c:v>0.766</c:v>
                </c:pt>
                <c:pt idx="3">
                  <c:v>0.754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141B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41B3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D9D6D0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47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41B33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41B33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41B33"/>
                </a:solidFill>
                <a:latin typeface="+mn-lt"/>
              </a:rPr>
              <a:t>Accuracy en test, solo outfits de 2 prendas (n = 8 236)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141B33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41B33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Siempre compatible</c:v>
                  </c:pt>
                  <c:pt idx="1">
                    <c:v>Logística A</c:v>
                  </c:pt>
                  <c:pt idx="2">
                    <c:v>Logística B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0.545</c:v>
                </c:pt>
                <c:pt idx="1">
                  <c:v>0.966</c:v>
                </c:pt>
                <c:pt idx="2">
                  <c:v>0.985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300" u="none">
                  <a:solidFill>
                    <a:srgbClr val="141B33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41B3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D9D6D0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47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Abrir con el nombre del proyecto y aclarar qué cubre este hito: la Fase 3 de CRISP-DM (preparación de datos) y la Fase 4 (modelado del baseline).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problema es una clasificación binaria con una salida continua de apoyo. Cada prenda entra con cuatro atributos. La salida principal dice si el outfit combina; la secundaria da un score de 0 a 1. El vínculo con el ODS 12: ayudar a combinar ropa que ya existe.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la mosca, LC4 y LPLC2 codifican dos propiedades distintas del mismo estímulo; DNp01 (la Giant Fiber) las integra y la respuesta se lee por dos vías: TTMn (salto rápido) y PSI hacia DLMn (vuelo, más gradual). En un outfit pasa algo parecido: varias señales heterogéneas convergen en una decisión binaria que también admite un score. Esa correspondencia es estructural, no funcional, y por eso se plantea como hipótesis.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usamos el conectoma completo, solo el Giant Fiber System con su capa de entrada: 327 neuronas y 20 684 sinapsis internas. Para verificar que el grafo extraído es útil, simulamos un estímulo que se acerca: la rama rápida (TTMn) cruza primero y la gradual (DLMn) sigue subiendo. Esto solo valida el grafo; el modelo de moda viene en el siguiente hito.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Tres datos clave. Uno: todos los outfits de 3 prendas son compatibles, así que la dificultad está en los de 2. Dos: el dataset va contra la intuición de moda; cuando dos prendas son de la misma época, la compatibilidad baja de 0.77 a 0.43, y pasa lo mismo con color y patrón. Eso sugiere que fue generado por reglas. Tres: el score separa las clases sin solaparse, así que usarlo como variable sería fuga.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Cinco decisiones de preparación. La más importante: la tercera prenda vacía no es un dato perdido, es un outfit de dos prendas, así que se codifica como categoría «ninguna». Armamos dos versiones de variables: A con los atributos por prenda (288 columnas) y B que agrega los cruces de par (396). El color no se cruza porque tiene 69 niveles y casi todas las combinaciones tendrían menos de 30 casos.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protocolo evita que el test influya en la elección. Con train se ajustan los modelos; en validación se eligen la profundidad del árbol y el umbral de decisión, con el F1 como criterio; y el test se mira una sola vez, al final.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Todas las configuraciones cumplen los tres umbrales. La logística supera al árbol en las dos versiones, y la versión B, con cruces de par, suma cerca de un punto de accuracy. Ojo con el F1: predecir siempre compatible ya da 0.857, así que ese umbral no sirve para distinguir modelos.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Como los outfits de 3 prendas siempre son compatibles, separamos el test de 2 prendas. Ahí predecir siempre compatible cae a 0.545, y la logística sigue por encima de 0.96. Todos los errores van en una sola dirección: outfits incompatibles marcados como compatibles. Y de los 30 casos predefinidos, 22 ya estaban en train, así que no cuentan como validación independiente.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Somos honestos con los límites. El dataset parece generado por reglas y tiene relaciones contrarias a la intuición. Casi la mitad de los outfits son triviales. Los 30 casos no son independientes. Y el modelo se apoya mucho en colores específicos con pocos ejemplos. Con un baseline en 98 %, el objetivo realista del modelo con conectoma es no ser inferior, no superarlo por mucho.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siguiente hito entrena la red con la conectividad real del subgrafo y la compara contra el baseline y contra una red aleatoria del mismo tamaño. La comparación con pocos datos es clave: con 100 000 outfits el baseline está saturado, pero con 500 o 1 000 la estructura podría marcar diferencia.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 preguntan por la ontología o los pesos: las conexiones que describe la literatura (Ache et al., 2019) aparecen en el grafo extraído de MaleCNS v1.0.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PORTADA-image-1.jpe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Modelo Fly · Hito 2 · Machine Learning, UPC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65760"/>
            <a:ext cx="877824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SCURO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94560"/>
            <a:ext cx="68580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600" b="1" dirty="0">
                <a:solidFill>
                  <a:schemeClr val="bg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defRPr>
            </a:lvl1pPr>
          </a:lstStyle>
          <a:p>
            <a:pPr algn="l" indent="0" marL="0">
              <a:buNone/>
            </a:pPr>
            <a:endParaRPr lang="en-US" sz="66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oto_perchero" descr="/home/claude/assets/r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9400" y="1691640"/>
            <a:ext cx="5394960" cy="51663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685800"/>
            <a:ext cx="6400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0" b="1" dirty="0">
                <a:solidFill>
                  <a:schemeClr val="tx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MODELO </a:t>
            </a:r>
            <a:pPr indent="0" marL="0">
              <a:buNone/>
            </a:pPr>
            <a:r>
              <a:rPr lang="en-US" sz="9200" b="1" dirty="0">
                <a:solidFill>
                  <a:schemeClr val="accent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FLY</a:t>
            </a:r>
            <a:endParaRPr lang="en-US" sz="9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2148840"/>
            <a:ext cx="5852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Predicción de compatibilidad de outfits desde el conectoma del Giant Fiber System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6118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HITO 2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2057400" y="3611880"/>
            <a:ext cx="2377440" cy="640080"/>
          </a:xfrm>
          <a:prstGeom prst="homePlat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Fase 3 · Preparación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297680" y="3611880"/>
            <a:ext cx="2377440" cy="640080"/>
          </a:xfrm>
          <a:prstGeom prst="chevron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Fase 4 · Modelado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43891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Metodología CRISP-DM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4892040"/>
            <a:ext cx="5486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Nicole Sihuincha Schermuly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Sergio Sebastian Iglesias Pérez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chemeClr val="accent3"/>
                </a:solidFill>
              </a:rPr>
              <a:t>Profesor: Hector Erasmo Gomez Montoya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chemeClr val="accent1"/>
                </a:solidFill>
              </a:rPr>
              <a:t>Alineado con ODS 12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8778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Predecir si un outfit de 2 o 3 prendas </a:t>
            </a:r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combina</a:t>
            </a:r>
            <a:endParaRPr lang="en-US" sz="3200" dirty="0"/>
          </a:p>
        </p:txBody>
      </p:sp>
      <p:sp>
        <p:nvSpPr>
          <p:cNvPr id="3" name="fase_1"/>
          <p:cNvSpPr/>
          <p:nvPr/>
        </p:nvSpPr>
        <p:spPr>
          <a:xfrm>
            <a:off x="9646920" y="502920"/>
            <a:ext cx="274320" cy="2743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646920" y="502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1</a:t>
            </a:r>
            <a:endParaRPr lang="en-US" sz="1000" dirty="0"/>
          </a:p>
        </p:txBody>
      </p:sp>
      <p:sp>
        <p:nvSpPr>
          <p:cNvPr id="5" name="fase_2"/>
          <p:cNvSpPr/>
          <p:nvPr/>
        </p:nvSpPr>
        <p:spPr>
          <a:xfrm>
            <a:off x="9985248" y="502920"/>
            <a:ext cx="274320" cy="274320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985248" y="502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3"/>
                </a:solidFill>
              </a:rPr>
              <a:t>2</a:t>
            </a:r>
            <a:endParaRPr lang="en-US" sz="1000" dirty="0"/>
          </a:p>
        </p:txBody>
      </p:sp>
      <p:sp>
        <p:nvSpPr>
          <p:cNvPr id="7" name="fase_3"/>
          <p:cNvSpPr/>
          <p:nvPr/>
        </p:nvSpPr>
        <p:spPr>
          <a:xfrm>
            <a:off x="10323576" y="502920"/>
            <a:ext cx="274320" cy="274320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323576" y="502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3"/>
                </a:solidFill>
              </a:rPr>
              <a:t>3</a:t>
            </a:r>
            <a:endParaRPr lang="en-US" sz="1000" dirty="0"/>
          </a:p>
        </p:txBody>
      </p:sp>
      <p:sp>
        <p:nvSpPr>
          <p:cNvPr id="9" name="fase_4"/>
          <p:cNvSpPr/>
          <p:nvPr/>
        </p:nvSpPr>
        <p:spPr>
          <a:xfrm>
            <a:off x="10661904" y="502920"/>
            <a:ext cx="274320" cy="274320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661904" y="502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3"/>
                </a:solidFill>
              </a:rPr>
              <a:t>4</a:t>
            </a:r>
            <a:endParaRPr lang="en-US" sz="1000" dirty="0"/>
          </a:p>
        </p:txBody>
      </p:sp>
      <p:sp>
        <p:nvSpPr>
          <p:cNvPr id="11" name="fase_5"/>
          <p:cNvSpPr/>
          <p:nvPr/>
        </p:nvSpPr>
        <p:spPr>
          <a:xfrm>
            <a:off x="11000232" y="502920"/>
            <a:ext cx="274320" cy="274320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1000232" y="502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3"/>
                </a:solidFill>
              </a:rPr>
              <a:t>5</a:t>
            </a:r>
            <a:endParaRPr lang="en-US" sz="1000" dirty="0"/>
          </a:p>
        </p:txBody>
      </p:sp>
      <p:sp>
        <p:nvSpPr>
          <p:cNvPr id="13" name="fase_6"/>
          <p:cNvSpPr/>
          <p:nvPr/>
        </p:nvSpPr>
        <p:spPr>
          <a:xfrm>
            <a:off x="11338560" y="502920"/>
            <a:ext cx="274320" cy="274320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1338560" y="502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3"/>
                </a:solidFill>
              </a:rPr>
              <a:t>6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9646920" y="85039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Fase 1 · Negocio</a:t>
            </a:r>
            <a:endParaRPr lang="en-US" sz="1100" dirty="0"/>
          </a:p>
        </p:txBody>
      </p:sp>
      <p:sp>
        <p:nvSpPr>
          <p:cNvPr id="16" name="caja_entrada"/>
          <p:cNvSpPr/>
          <p:nvPr/>
        </p:nvSpPr>
        <p:spPr>
          <a:xfrm>
            <a:off x="548640" y="1645920"/>
            <a:ext cx="2377440" cy="3017520"/>
          </a:xfrm>
          <a:prstGeom prst="roundRect">
            <a:avLst>
              <a:gd name="adj" fmla="val 307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731520" y="17373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Por cada prenda</a:t>
            </a:r>
            <a:endParaRPr lang="en-US" sz="1500" dirty="0"/>
          </a:p>
        </p:txBody>
      </p:sp>
      <p:sp>
        <p:nvSpPr>
          <p:cNvPr id="18" name="chip_Época"/>
          <p:cNvSpPr/>
          <p:nvPr/>
        </p:nvSpPr>
        <p:spPr>
          <a:xfrm>
            <a:off x="731520" y="2194560"/>
            <a:ext cx="2011680" cy="45720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 w="9525">
            <a:solidFill>
              <a:schemeClr val="accent3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Época</a:t>
            </a:r>
            <a:endParaRPr lang="en-US" sz="1500" dirty="0"/>
          </a:p>
        </p:txBody>
      </p:sp>
      <p:sp>
        <p:nvSpPr>
          <p:cNvPr id="19" name="chip_Color"/>
          <p:cNvSpPr/>
          <p:nvPr/>
        </p:nvSpPr>
        <p:spPr>
          <a:xfrm>
            <a:off x="731520" y="2788920"/>
            <a:ext cx="2011680" cy="45720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 w="9525">
            <a:solidFill>
              <a:schemeClr val="accent3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Color</a:t>
            </a:r>
            <a:endParaRPr lang="en-US" sz="1500" dirty="0"/>
          </a:p>
        </p:txBody>
      </p:sp>
      <p:sp>
        <p:nvSpPr>
          <p:cNvPr id="20" name="chip_Patrón"/>
          <p:cNvSpPr/>
          <p:nvPr/>
        </p:nvSpPr>
        <p:spPr>
          <a:xfrm>
            <a:off x="731520" y="3383280"/>
            <a:ext cx="2011680" cy="45720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 w="9525">
            <a:solidFill>
              <a:schemeClr val="accent3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Patrón</a:t>
            </a:r>
            <a:endParaRPr lang="en-US" sz="1500" dirty="0"/>
          </a:p>
        </p:txBody>
      </p:sp>
      <p:sp>
        <p:nvSpPr>
          <p:cNvPr id="21" name="chip_Estilo"/>
          <p:cNvSpPr/>
          <p:nvPr/>
        </p:nvSpPr>
        <p:spPr>
          <a:xfrm>
            <a:off x="731520" y="3977640"/>
            <a:ext cx="2011680" cy="45720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 w="9525">
            <a:solidFill>
              <a:schemeClr val="accent3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Estilo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2971800" y="3154680"/>
            <a:ext cx="365760" cy="0"/>
          </a:xfrm>
          <a:prstGeom prst="line">
            <a:avLst/>
          </a:prstGeom>
          <a:noFill/>
          <a:ln w="22225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3383280" y="2606040"/>
            <a:ext cx="1645920" cy="1097280"/>
          </a:xfrm>
          <a:prstGeom prst="roundRect">
            <a:avLst>
              <a:gd name="adj" fmla="val 8333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Modelo</a:t>
            </a:r>
            <a:endParaRPr lang="en-US" sz="2400" dirty="0"/>
          </a:p>
        </p:txBody>
      </p:sp>
      <p:sp>
        <p:nvSpPr>
          <p:cNvPr id="24" name="Shape 22"/>
          <p:cNvSpPr/>
          <p:nvPr/>
        </p:nvSpPr>
        <p:spPr>
          <a:xfrm flipV="1">
            <a:off x="5029200" y="2377440"/>
            <a:ext cx="457200" cy="777240"/>
          </a:xfrm>
          <a:prstGeom prst="line">
            <a:avLst/>
          </a:prstGeom>
          <a:noFill/>
          <a:ln w="22225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5029200" y="3154680"/>
            <a:ext cx="457200" cy="868680"/>
          </a:xfrm>
          <a:prstGeom prst="line">
            <a:avLst/>
          </a:prstGeom>
          <a:noFill/>
          <a:ln w="22225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26" name="salida_1"/>
          <p:cNvSpPr/>
          <p:nvPr/>
        </p:nvSpPr>
        <p:spPr>
          <a:xfrm>
            <a:off x="5532120" y="1691640"/>
            <a:ext cx="2926080" cy="1371600"/>
          </a:xfrm>
          <a:prstGeom prst="roundRect">
            <a:avLst>
              <a:gd name="adj" fmla="val 5333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5715000" y="1783080"/>
            <a:ext cx="2606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Salida principal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es_compatible: 1 combina, 0 no combina</a:t>
            </a:r>
            <a:endParaRPr lang="en-US" sz="1500" dirty="0"/>
          </a:p>
        </p:txBody>
      </p:sp>
      <p:sp>
        <p:nvSpPr>
          <p:cNvPr id="28" name="salida_2"/>
          <p:cNvSpPr/>
          <p:nvPr/>
        </p:nvSpPr>
        <p:spPr>
          <a:xfrm>
            <a:off x="5532120" y="3337560"/>
            <a:ext cx="2926080" cy="1371600"/>
          </a:xfrm>
          <a:prstGeom prst="roundRect">
            <a:avLst>
              <a:gd name="adj" fmla="val 5333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5715000" y="3429000"/>
            <a:ext cx="2606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Salida secundaria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score de compatibilidad, de 0 a 1</a:t>
            </a:r>
            <a:endParaRPr lang="en-US" sz="1500" dirty="0"/>
          </a:p>
        </p:txBody>
      </p:sp>
      <p:sp>
        <p:nvSpPr>
          <p:cNvPr id="30" name="ods12"/>
          <p:cNvSpPr/>
          <p:nvPr/>
        </p:nvSpPr>
        <p:spPr>
          <a:xfrm>
            <a:off x="548640" y="4983480"/>
            <a:ext cx="7909560" cy="1097280"/>
          </a:xfrm>
          <a:prstGeom prst="roundRect">
            <a:avLst>
              <a:gd name="adj" fmla="val 6667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 txBox="1"/>
          <p:nvPr/>
        </p:nvSpPr>
        <p:spPr>
          <a:xfrm>
            <a:off x="777240" y="5029200"/>
            <a:ext cx="7498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5"/>
                </a:solidFill>
              </a:rPr>
              <a:t>ODS 12 · Producción y consumo responsables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Armar conjuntos con ropa que ya existe alarga su uso y evita reemplazarla por una prenda nueva.</a:t>
            </a:r>
            <a:endParaRPr lang="en-US" sz="1500" dirty="0"/>
          </a:p>
        </p:txBody>
      </p:sp>
      <p:pic>
        <p:nvPicPr>
          <p:cNvPr id="32" name="foto_prendas" descr="/home/claude/assets/stack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54312" y="1828800"/>
            <a:ext cx="2834640" cy="263347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8778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Probamos si la estructura de un </a:t>
            </a:r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circuito de escape</a:t>
            </a:r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 sirve para decidir</a:t>
            </a:r>
            <a:endParaRPr lang="en-US" sz="3200" dirty="0"/>
          </a:p>
        </p:txBody>
      </p:sp>
      <p:sp>
        <p:nvSpPr>
          <p:cNvPr id="3" name="fase_1"/>
          <p:cNvSpPr/>
          <p:nvPr/>
        </p:nvSpPr>
        <p:spPr>
          <a:xfrm>
            <a:off x="9646920" y="502920"/>
            <a:ext cx="274320" cy="2743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646920" y="502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1</a:t>
            </a:r>
            <a:endParaRPr lang="en-US" sz="1000" dirty="0"/>
          </a:p>
        </p:txBody>
      </p:sp>
      <p:sp>
        <p:nvSpPr>
          <p:cNvPr id="5" name="fase_2"/>
          <p:cNvSpPr/>
          <p:nvPr/>
        </p:nvSpPr>
        <p:spPr>
          <a:xfrm>
            <a:off x="9985248" y="502920"/>
            <a:ext cx="274320" cy="274320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985248" y="502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3"/>
                </a:solidFill>
              </a:rPr>
              <a:t>2</a:t>
            </a:r>
            <a:endParaRPr lang="en-US" sz="1000" dirty="0"/>
          </a:p>
        </p:txBody>
      </p:sp>
      <p:sp>
        <p:nvSpPr>
          <p:cNvPr id="7" name="fase_3"/>
          <p:cNvSpPr/>
          <p:nvPr/>
        </p:nvSpPr>
        <p:spPr>
          <a:xfrm>
            <a:off x="10323576" y="502920"/>
            <a:ext cx="274320" cy="274320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323576" y="502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3"/>
                </a:solidFill>
              </a:rPr>
              <a:t>3</a:t>
            </a:r>
            <a:endParaRPr lang="en-US" sz="1000" dirty="0"/>
          </a:p>
        </p:txBody>
      </p:sp>
      <p:sp>
        <p:nvSpPr>
          <p:cNvPr id="9" name="fase_4"/>
          <p:cNvSpPr/>
          <p:nvPr/>
        </p:nvSpPr>
        <p:spPr>
          <a:xfrm>
            <a:off x="10661904" y="502920"/>
            <a:ext cx="274320" cy="274320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661904" y="502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3"/>
                </a:solidFill>
              </a:rPr>
              <a:t>4</a:t>
            </a:r>
            <a:endParaRPr lang="en-US" sz="1000" dirty="0"/>
          </a:p>
        </p:txBody>
      </p:sp>
      <p:sp>
        <p:nvSpPr>
          <p:cNvPr id="11" name="fase_5"/>
          <p:cNvSpPr/>
          <p:nvPr/>
        </p:nvSpPr>
        <p:spPr>
          <a:xfrm>
            <a:off x="11000232" y="502920"/>
            <a:ext cx="274320" cy="274320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1000232" y="502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3"/>
                </a:solidFill>
              </a:rPr>
              <a:t>5</a:t>
            </a:r>
            <a:endParaRPr lang="en-US" sz="1000" dirty="0"/>
          </a:p>
        </p:txBody>
      </p:sp>
      <p:sp>
        <p:nvSpPr>
          <p:cNvPr id="13" name="fase_6"/>
          <p:cNvSpPr/>
          <p:nvPr/>
        </p:nvSpPr>
        <p:spPr>
          <a:xfrm>
            <a:off x="11338560" y="502920"/>
            <a:ext cx="274320" cy="274320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1338560" y="502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3"/>
                </a:solidFill>
              </a:rPr>
              <a:t>6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9646920" y="85039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Fase 1 · Negocio</a:t>
            </a:r>
            <a:endParaRPr lang="en-US" sz="1100" dirty="0"/>
          </a:p>
        </p:txBody>
      </p:sp>
      <p:sp>
        <p:nvSpPr>
          <p:cNvPr id="16" name="nodo_LC4"/>
          <p:cNvSpPr/>
          <p:nvPr/>
        </p:nvSpPr>
        <p:spPr>
          <a:xfrm>
            <a:off x="548640" y="1737360"/>
            <a:ext cx="1645920" cy="640080"/>
          </a:xfrm>
          <a:prstGeom prst="roundRect">
            <a:avLst>
              <a:gd name="adj" fmla="val 14286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LC4</a:t>
            </a:r>
            <a:endParaRPr lang="en-US" sz="2200" dirty="0"/>
          </a:p>
        </p:txBody>
      </p:sp>
      <p:sp>
        <p:nvSpPr>
          <p:cNvPr id="17" name="nodo_LPLC2"/>
          <p:cNvSpPr/>
          <p:nvPr/>
        </p:nvSpPr>
        <p:spPr>
          <a:xfrm>
            <a:off x="548640" y="2743200"/>
            <a:ext cx="1645920" cy="640080"/>
          </a:xfrm>
          <a:prstGeom prst="roundRect">
            <a:avLst>
              <a:gd name="adj" fmla="val 14286"/>
            </a:avLst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LPLC2</a:t>
            </a:r>
            <a:endParaRPr lang="en-US" sz="2200" dirty="0"/>
          </a:p>
        </p:txBody>
      </p:sp>
      <p:sp>
        <p:nvSpPr>
          <p:cNvPr id="18" name="nodo_DNp01"/>
          <p:cNvSpPr/>
          <p:nvPr/>
        </p:nvSpPr>
        <p:spPr>
          <a:xfrm>
            <a:off x="3017520" y="2240280"/>
            <a:ext cx="1828800" cy="640080"/>
          </a:xfrm>
          <a:prstGeom prst="roundRect">
            <a:avLst>
              <a:gd name="adj" fmla="val 14286"/>
            </a:avLst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DNp01</a:t>
            </a:r>
            <a:endParaRPr lang="en-US" sz="2200" dirty="0"/>
          </a:p>
        </p:txBody>
      </p:sp>
      <p:sp>
        <p:nvSpPr>
          <p:cNvPr id="19" name="nodo_TTMn"/>
          <p:cNvSpPr/>
          <p:nvPr/>
        </p:nvSpPr>
        <p:spPr>
          <a:xfrm>
            <a:off x="5669280" y="1645920"/>
            <a:ext cx="1645920" cy="640080"/>
          </a:xfrm>
          <a:prstGeom prst="roundRect">
            <a:avLst>
              <a:gd name="adj" fmla="val 14286"/>
            </a:avLst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TTMn</a:t>
            </a:r>
            <a:endParaRPr lang="en-US" sz="2200" dirty="0"/>
          </a:p>
        </p:txBody>
      </p:sp>
      <p:sp>
        <p:nvSpPr>
          <p:cNvPr id="20" name="nodo_PSI"/>
          <p:cNvSpPr/>
          <p:nvPr/>
        </p:nvSpPr>
        <p:spPr>
          <a:xfrm>
            <a:off x="5669280" y="2834640"/>
            <a:ext cx="1188720" cy="640080"/>
          </a:xfrm>
          <a:prstGeom prst="roundRect">
            <a:avLst>
              <a:gd name="adj" fmla="val 14286"/>
            </a:avLst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PSI</a:t>
            </a:r>
            <a:endParaRPr lang="en-US" sz="2200" dirty="0"/>
          </a:p>
        </p:txBody>
      </p:sp>
      <p:sp>
        <p:nvSpPr>
          <p:cNvPr id="21" name="nodo_DLMn"/>
          <p:cNvSpPr/>
          <p:nvPr/>
        </p:nvSpPr>
        <p:spPr>
          <a:xfrm>
            <a:off x="7178040" y="2834640"/>
            <a:ext cx="1188720" cy="640080"/>
          </a:xfrm>
          <a:prstGeom prst="roundRect">
            <a:avLst>
              <a:gd name="adj" fmla="val 14286"/>
            </a:avLst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DLMn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2194560" y="2057400"/>
            <a:ext cx="822960" cy="502920"/>
          </a:xfrm>
          <a:prstGeom prst="line">
            <a:avLst/>
          </a:prstGeom>
          <a:noFill/>
          <a:ln w="22225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 flipV="1">
            <a:off x="2194560" y="2560320"/>
            <a:ext cx="822960" cy="502920"/>
          </a:xfrm>
          <a:prstGeom prst="line">
            <a:avLst/>
          </a:prstGeom>
          <a:noFill/>
          <a:ln w="22225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 flipV="1">
            <a:off x="4846320" y="1965960"/>
            <a:ext cx="822960" cy="594360"/>
          </a:xfrm>
          <a:prstGeom prst="line">
            <a:avLst/>
          </a:prstGeom>
          <a:noFill/>
          <a:ln w="22225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4846320" y="2560320"/>
            <a:ext cx="822960" cy="594360"/>
          </a:xfrm>
          <a:prstGeom prst="line">
            <a:avLst/>
          </a:prstGeom>
          <a:noFill/>
          <a:ln w="22225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6858000" y="3154680"/>
            <a:ext cx="320040" cy="0"/>
          </a:xfrm>
          <a:prstGeom prst="line">
            <a:avLst/>
          </a:prstGeom>
          <a:noFill/>
          <a:ln w="22225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27" name="Text 25"/>
          <p:cNvSpPr txBox="1"/>
          <p:nvPr/>
        </p:nvSpPr>
        <p:spPr>
          <a:xfrm>
            <a:off x="548640" y="34747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1"/>
                </a:solidFill>
              </a:rPr>
              <a:t>entrada: atributos de las prendas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3017520" y="29718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1"/>
                </a:solidFill>
              </a:rPr>
              <a:t>nodo de decisión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7498080" y="164592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salida rápida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→ combina / no combina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8549640" y="283464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salida gradual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→ score de 0 a 1</a:t>
            </a:r>
            <a:endParaRPr lang="en-US" sz="1400" dirty="0"/>
          </a:p>
        </p:txBody>
      </p:sp>
      <p:sp>
        <p:nvSpPr>
          <p:cNvPr id="31" name="h1"/>
          <p:cNvSpPr/>
          <p:nvPr/>
        </p:nvSpPr>
        <p:spPr>
          <a:xfrm>
            <a:off x="548640" y="4160520"/>
            <a:ext cx="5486400" cy="1371600"/>
          </a:xfrm>
          <a:prstGeom prst="roundRect">
            <a:avLst>
              <a:gd name="adj" fmla="val 5333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 txBox="1"/>
          <p:nvPr/>
        </p:nvSpPr>
        <p:spPr>
          <a:xfrm>
            <a:off x="731520" y="4206240"/>
            <a:ext cx="5120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H1 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Una red con la conectividad del subgrafo (327 neuronas) rinde igual o mejor que modelos sin esa estructura.</a:t>
            </a:r>
            <a:endParaRPr lang="en-US" sz="1500" dirty="0"/>
          </a:p>
        </p:txBody>
      </p:sp>
      <p:sp>
        <p:nvSpPr>
          <p:cNvPr id="33" name="h0"/>
          <p:cNvSpPr/>
          <p:nvPr/>
        </p:nvSpPr>
        <p:spPr>
          <a:xfrm>
            <a:off x="6309360" y="4160520"/>
            <a:ext cx="5349240" cy="1371600"/>
          </a:xfrm>
          <a:prstGeom prst="roundRect">
            <a:avLst>
              <a:gd name="adj" fmla="val 5333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 txBox="1"/>
          <p:nvPr/>
        </p:nvSpPr>
        <p:spPr>
          <a:xfrm>
            <a:off x="6492240" y="4206240"/>
            <a:ext cx="4983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H0 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La conectividad no aporta ventaja. Si no se rechaza, también informa: la estructura biológica no sería necesaria.</a:t>
            </a:r>
            <a:endParaRPr lang="en-US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548640" y="5715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chemeClr val="tx1"/>
                </a:solidFill>
              </a:rPr>
              <a:t>Es una analogía estructural, no funcional: </a:t>
            </a:r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el circuito no evolucionó para evaluar ropa, por eso se contrasta.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8778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De 166 000 neuronas a </a:t>
            </a:r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327</a:t>
            </a:r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, y el subgrafo responde</a:t>
            </a:r>
            <a:endParaRPr lang="en-US" sz="3200" dirty="0"/>
          </a:p>
        </p:txBody>
      </p:sp>
      <p:sp>
        <p:nvSpPr>
          <p:cNvPr id="3" name="fase_1"/>
          <p:cNvSpPr/>
          <p:nvPr/>
        </p:nvSpPr>
        <p:spPr>
          <a:xfrm>
            <a:off x="9646920" y="502920"/>
            <a:ext cx="274320" cy="2743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646920" y="502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1</a:t>
            </a:r>
            <a:endParaRPr lang="en-US" sz="1000" dirty="0"/>
          </a:p>
        </p:txBody>
      </p:sp>
      <p:sp>
        <p:nvSpPr>
          <p:cNvPr id="5" name="fase_2"/>
          <p:cNvSpPr/>
          <p:nvPr/>
        </p:nvSpPr>
        <p:spPr>
          <a:xfrm>
            <a:off x="9985248" y="502920"/>
            <a:ext cx="274320" cy="2743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985248" y="502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2</a:t>
            </a:r>
            <a:endParaRPr lang="en-US" sz="1000" dirty="0"/>
          </a:p>
        </p:txBody>
      </p:sp>
      <p:sp>
        <p:nvSpPr>
          <p:cNvPr id="7" name="fase_3"/>
          <p:cNvSpPr/>
          <p:nvPr/>
        </p:nvSpPr>
        <p:spPr>
          <a:xfrm>
            <a:off x="10323576" y="502920"/>
            <a:ext cx="274320" cy="274320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323576" y="502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3"/>
                </a:solidFill>
              </a:rPr>
              <a:t>3</a:t>
            </a:r>
            <a:endParaRPr lang="en-US" sz="1000" dirty="0"/>
          </a:p>
        </p:txBody>
      </p:sp>
      <p:sp>
        <p:nvSpPr>
          <p:cNvPr id="9" name="fase_4"/>
          <p:cNvSpPr/>
          <p:nvPr/>
        </p:nvSpPr>
        <p:spPr>
          <a:xfrm>
            <a:off x="10661904" y="502920"/>
            <a:ext cx="274320" cy="274320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661904" y="502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3"/>
                </a:solidFill>
              </a:rPr>
              <a:t>4</a:t>
            </a:r>
            <a:endParaRPr lang="en-US" sz="1000" dirty="0"/>
          </a:p>
        </p:txBody>
      </p:sp>
      <p:sp>
        <p:nvSpPr>
          <p:cNvPr id="11" name="fase_5"/>
          <p:cNvSpPr/>
          <p:nvPr/>
        </p:nvSpPr>
        <p:spPr>
          <a:xfrm>
            <a:off x="11000232" y="502920"/>
            <a:ext cx="274320" cy="274320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1000232" y="502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3"/>
                </a:solidFill>
              </a:rPr>
              <a:t>5</a:t>
            </a:r>
            <a:endParaRPr lang="en-US" sz="1000" dirty="0"/>
          </a:p>
        </p:txBody>
      </p:sp>
      <p:sp>
        <p:nvSpPr>
          <p:cNvPr id="13" name="fase_6"/>
          <p:cNvSpPr/>
          <p:nvPr/>
        </p:nvSpPr>
        <p:spPr>
          <a:xfrm>
            <a:off x="11338560" y="502920"/>
            <a:ext cx="274320" cy="274320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1338560" y="502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3"/>
                </a:solidFill>
              </a:rPr>
              <a:t>6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9646920" y="85039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Fase 2 · Datos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164592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166 000</a:t>
            </a:r>
            <a:endParaRPr lang="en-US" sz="54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24688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neuronas en MaleCNS v1.0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154680" y="2057400"/>
            <a:ext cx="685800" cy="0"/>
          </a:xfrm>
          <a:prstGeom prst="line">
            <a:avLst/>
          </a:prstGeom>
          <a:noFill/>
          <a:ln w="22225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19" name="Text 17"/>
          <p:cNvSpPr txBox="1"/>
          <p:nvPr/>
        </p:nvSpPr>
        <p:spPr>
          <a:xfrm>
            <a:off x="4023360" y="164592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327</a:t>
            </a:r>
            <a:endParaRPr lang="en-US" sz="5400" dirty="0"/>
          </a:p>
        </p:txBody>
      </p:sp>
      <p:sp>
        <p:nvSpPr>
          <p:cNvPr id="20" name="Text 18"/>
          <p:cNvSpPr txBox="1"/>
          <p:nvPr/>
        </p:nvSpPr>
        <p:spPr>
          <a:xfrm>
            <a:off x="4023360" y="24688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en el subgrafo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063240"/>
          <a:ext cx="51206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2918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1EFEC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Entrada</a:t>
                      </a:r>
                      <a:endParaRPr lang="en-US" sz="160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F1E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E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E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E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1B33"/>
                          </a:solidFill>
                        </a:rPr>
                        <a:t>LC4 (126) + LPLC2 (185)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F1E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E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E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E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1EFEC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Decisión</a:t>
                      </a:r>
                      <a:endParaRPr lang="en-US" sz="160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F1E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E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E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E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1B33"/>
                          </a:solidFill>
                        </a:rPr>
                        <a:t>DNp01 (2) + PSI (2)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F1E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E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E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E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1EFEC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Salida</a:t>
                      </a:r>
                      <a:endParaRPr lang="en-US" sz="160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F1E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E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E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E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1B33"/>
                          </a:solidFill>
                        </a:rPr>
                        <a:t>TTMn (2) + DLMn (10)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F1E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E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E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E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1EFEC"/>
                          </a:solidFill>
                          <a:latin typeface="Arial Narrow" pitchFamily="34" charset="0"/>
                          <a:ea typeface="Arial Narrow" pitchFamily="34" charset="-122"/>
                          <a:cs typeface="Arial Narrow" pitchFamily="34" charset="-120"/>
                        </a:rPr>
                        <a:t>Sinapsis internas</a:t>
                      </a:r>
                      <a:endParaRPr lang="en-US" sz="1600" dirty="0">
                        <a:latin typeface="Arial Narrow" charset="0"/>
                        <a:ea typeface="Arial Narrow" charset="0"/>
                        <a:cs typeface="Arial Narrow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F1E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E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E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E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41B33"/>
                          </a:solidFill>
                        </a:rPr>
                        <a:t>20 684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F1E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E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E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E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Text 19"/>
          <p:cNvSpPr txBox="1"/>
          <p:nvPr/>
        </p:nvSpPr>
        <p:spPr>
          <a:xfrm>
            <a:off x="548640" y="489204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 buscó por tipo celular en neuPrint: la Giant Fiber aparece como DNp01. flyvis no cubre estas neuronas, así que no hay pesos preentrenados.</a:t>
            </a:r>
            <a:endParaRPr lang="en-US" sz="1400" dirty="0"/>
          </a:p>
        </p:txBody>
      </p:sp>
      <p:sp>
        <p:nvSpPr>
          <p:cNvPr id="23" name="caja_looming"/>
          <p:cNvSpPr/>
          <p:nvPr/>
        </p:nvSpPr>
        <p:spPr>
          <a:xfrm>
            <a:off x="6035040" y="1645920"/>
            <a:ext cx="5623560" cy="4434840"/>
          </a:xfrm>
          <a:prstGeom prst="roundRect">
            <a:avLst>
              <a:gd name="adj" fmla="val 164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24" name="fig_looming" descr="/home/claude/assets/loom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2200" y="1783080"/>
            <a:ext cx="5349240" cy="2651760"/>
          </a:xfrm>
          <a:prstGeom prst="rect">
            <a:avLst/>
          </a:prstGeom>
        </p:spPr>
      </p:pic>
      <p:sp>
        <p:nvSpPr>
          <p:cNvPr id="25" name="Text 21"/>
          <p:cNvSpPr txBox="1"/>
          <p:nvPr/>
        </p:nvSpPr>
        <p:spPr>
          <a:xfrm>
            <a:off x="6309360" y="4572000"/>
            <a:ext cx="5074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Simulación de un estímulo looming sobre las aristas reales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TTMn (rama rápida) cruza el umbral primero; DLMn (rama gradual, vía PSI) sigue subiendo hasta el final. Las dos salidas existen en el grafo extraído.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8778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El dataset premia la </a:t>
            </a:r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diferencia</a:t>
            </a:r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 entre prendas, no la coincidencia</a:t>
            </a:r>
            <a:endParaRPr lang="en-US" sz="3200" dirty="0"/>
          </a:p>
        </p:txBody>
      </p:sp>
      <p:sp>
        <p:nvSpPr>
          <p:cNvPr id="3" name="fase_1"/>
          <p:cNvSpPr/>
          <p:nvPr/>
        </p:nvSpPr>
        <p:spPr>
          <a:xfrm>
            <a:off x="9646920" y="502920"/>
            <a:ext cx="274320" cy="2743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646920" y="502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1</a:t>
            </a:r>
            <a:endParaRPr lang="en-US" sz="1000" dirty="0"/>
          </a:p>
        </p:txBody>
      </p:sp>
      <p:sp>
        <p:nvSpPr>
          <p:cNvPr id="5" name="fase_2"/>
          <p:cNvSpPr/>
          <p:nvPr/>
        </p:nvSpPr>
        <p:spPr>
          <a:xfrm>
            <a:off x="9985248" y="502920"/>
            <a:ext cx="274320" cy="2743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985248" y="502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2</a:t>
            </a:r>
            <a:endParaRPr lang="en-US" sz="1000" dirty="0"/>
          </a:p>
        </p:txBody>
      </p:sp>
      <p:sp>
        <p:nvSpPr>
          <p:cNvPr id="7" name="fase_3"/>
          <p:cNvSpPr/>
          <p:nvPr/>
        </p:nvSpPr>
        <p:spPr>
          <a:xfrm>
            <a:off x="10323576" y="502920"/>
            <a:ext cx="274320" cy="274320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323576" y="502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3"/>
                </a:solidFill>
              </a:rPr>
              <a:t>3</a:t>
            </a:r>
            <a:endParaRPr lang="en-US" sz="1000" dirty="0"/>
          </a:p>
        </p:txBody>
      </p:sp>
      <p:sp>
        <p:nvSpPr>
          <p:cNvPr id="9" name="fase_4"/>
          <p:cNvSpPr/>
          <p:nvPr/>
        </p:nvSpPr>
        <p:spPr>
          <a:xfrm>
            <a:off x="10661904" y="502920"/>
            <a:ext cx="274320" cy="274320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661904" y="502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3"/>
                </a:solidFill>
              </a:rPr>
              <a:t>4</a:t>
            </a:r>
            <a:endParaRPr lang="en-US" sz="1000" dirty="0"/>
          </a:p>
        </p:txBody>
      </p:sp>
      <p:sp>
        <p:nvSpPr>
          <p:cNvPr id="11" name="fase_5"/>
          <p:cNvSpPr/>
          <p:nvPr/>
        </p:nvSpPr>
        <p:spPr>
          <a:xfrm>
            <a:off x="11000232" y="502920"/>
            <a:ext cx="274320" cy="274320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1000232" y="502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3"/>
                </a:solidFill>
              </a:rPr>
              <a:t>5</a:t>
            </a:r>
            <a:endParaRPr lang="en-US" sz="1000" dirty="0"/>
          </a:p>
        </p:txBody>
      </p:sp>
      <p:sp>
        <p:nvSpPr>
          <p:cNvPr id="13" name="fase_6"/>
          <p:cNvSpPr/>
          <p:nvPr/>
        </p:nvSpPr>
        <p:spPr>
          <a:xfrm>
            <a:off x="11338560" y="502920"/>
            <a:ext cx="274320" cy="274320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1338560" y="502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3"/>
                </a:solidFill>
              </a:rPr>
              <a:t>6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9646920" y="85039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Fase 2 · Datos</a:t>
            </a:r>
            <a:endParaRPr lang="en-US" sz="1100" dirty="0"/>
          </a:p>
        </p:txBody>
      </p:sp>
      <p:sp>
        <p:nvSpPr>
          <p:cNvPr id="16" name="stat_0"/>
          <p:cNvSpPr/>
          <p:nvPr/>
        </p:nvSpPr>
        <p:spPr>
          <a:xfrm>
            <a:off x="548640" y="1645920"/>
            <a:ext cx="2377440" cy="1234440"/>
          </a:xfrm>
          <a:prstGeom prst="roundRect">
            <a:avLst>
              <a:gd name="adj" fmla="val 592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731520" y="1755648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100 000</a:t>
            </a:r>
            <a:endParaRPr lang="en-US" sz="36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239572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outfits analizados</a:t>
            </a:r>
            <a:endParaRPr lang="en-US" sz="1400" dirty="0"/>
          </a:p>
        </p:txBody>
      </p:sp>
      <p:sp>
        <p:nvSpPr>
          <p:cNvPr id="19" name="stat_1"/>
          <p:cNvSpPr/>
          <p:nvPr/>
        </p:nvSpPr>
        <p:spPr>
          <a:xfrm>
            <a:off x="3200400" y="1645920"/>
            <a:ext cx="2377440" cy="1234440"/>
          </a:xfrm>
          <a:prstGeom prst="roundRect">
            <a:avLst>
              <a:gd name="adj" fmla="val 592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3383280" y="1755648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500</a:t>
            </a:r>
            <a:endParaRPr lang="en-US" sz="3600" dirty="0"/>
          </a:p>
        </p:txBody>
      </p:sp>
      <p:sp>
        <p:nvSpPr>
          <p:cNvPr id="21" name="Text 19"/>
          <p:cNvSpPr txBox="1"/>
          <p:nvPr/>
        </p:nvSpPr>
        <p:spPr>
          <a:xfrm>
            <a:off x="3383280" y="239572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prendas en el catálogo</a:t>
            </a:r>
            <a:endParaRPr lang="en-US" sz="1400" dirty="0"/>
          </a:p>
        </p:txBody>
      </p:sp>
      <p:sp>
        <p:nvSpPr>
          <p:cNvPr id="22" name="stat_2"/>
          <p:cNvSpPr/>
          <p:nvPr/>
        </p:nvSpPr>
        <p:spPr>
          <a:xfrm>
            <a:off x="548640" y="3108960"/>
            <a:ext cx="2377440" cy="1234440"/>
          </a:xfrm>
          <a:prstGeom prst="roundRect">
            <a:avLst>
              <a:gd name="adj" fmla="val 592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731520" y="3218688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100 %</a:t>
            </a:r>
            <a:endParaRPr lang="en-US" sz="3600" dirty="0"/>
          </a:p>
        </p:txBody>
      </p:sp>
      <p:sp>
        <p:nvSpPr>
          <p:cNvPr id="24" name="Text 22"/>
          <p:cNvSpPr txBox="1"/>
          <p:nvPr/>
        </p:nvSpPr>
        <p:spPr>
          <a:xfrm>
            <a:off x="731520" y="385876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compatibles con 3 prendas</a:t>
            </a:r>
            <a:endParaRPr lang="en-US" sz="1400" dirty="0"/>
          </a:p>
        </p:txBody>
      </p:sp>
      <p:sp>
        <p:nvSpPr>
          <p:cNvPr id="25" name="stat_3"/>
          <p:cNvSpPr/>
          <p:nvPr/>
        </p:nvSpPr>
        <p:spPr>
          <a:xfrm>
            <a:off x="3200400" y="3108960"/>
            <a:ext cx="2377440" cy="1234440"/>
          </a:xfrm>
          <a:prstGeom prst="roundRect">
            <a:avLst>
              <a:gd name="adj" fmla="val 592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3383280" y="3218688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54.5 %</a:t>
            </a:r>
            <a:endParaRPr lang="en-US" sz="3600" dirty="0"/>
          </a:p>
        </p:txBody>
      </p:sp>
      <p:sp>
        <p:nvSpPr>
          <p:cNvPr id="27" name="Text 25"/>
          <p:cNvSpPr txBox="1"/>
          <p:nvPr/>
        </p:nvSpPr>
        <p:spPr>
          <a:xfrm>
            <a:off x="3383280" y="385876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compatibles con 2 prendas</a:t>
            </a:r>
            <a:endParaRPr lang="en-US" sz="1400" dirty="0"/>
          </a:p>
        </p:txBody>
      </p:sp>
      <p:sp>
        <p:nvSpPr>
          <p:cNvPr id="28" name="fuga"/>
          <p:cNvSpPr/>
          <p:nvPr/>
        </p:nvSpPr>
        <p:spPr>
          <a:xfrm>
            <a:off x="548640" y="4663440"/>
            <a:ext cx="5029200" cy="1417320"/>
          </a:xfrm>
          <a:prstGeom prst="roundRect">
            <a:avLst>
              <a:gd name="adj" fmla="val 5161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731520" y="4709160"/>
            <a:ext cx="46634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El score separa las clases sin solape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Clase 0 ≤ 0.35 y clase 1 ≥ 0.70, con correlación 0.955: es fuga y queda fuera de las variables.</a:t>
            </a:r>
            <a:endParaRPr lang="en-US" sz="1400" dirty="0"/>
          </a:p>
        </p:txBody>
      </p:sp>
      <p:graphicFrame>
        <p:nvGraphicFramePr>
          <p:cNvPr id="30" name="grafico_coincidencias" descr=""/>
          <p:cNvGraphicFramePr/>
          <p:nvPr/>
        </p:nvGraphicFramePr>
        <p:xfrm>
          <a:off x="5943600" y="1600200"/>
          <a:ext cx="5715000" cy="4526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8778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Fase 3: de datos crudos a </a:t>
            </a:r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variables listas</a:t>
            </a:r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 para el modelo</a:t>
            </a:r>
            <a:endParaRPr lang="en-US" sz="3200" dirty="0"/>
          </a:p>
        </p:txBody>
      </p:sp>
      <p:sp>
        <p:nvSpPr>
          <p:cNvPr id="3" name="fase_1"/>
          <p:cNvSpPr/>
          <p:nvPr/>
        </p:nvSpPr>
        <p:spPr>
          <a:xfrm>
            <a:off x="9646920" y="502920"/>
            <a:ext cx="274320" cy="2743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646920" y="502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1</a:t>
            </a:r>
            <a:endParaRPr lang="en-US" sz="1000" dirty="0"/>
          </a:p>
        </p:txBody>
      </p:sp>
      <p:sp>
        <p:nvSpPr>
          <p:cNvPr id="5" name="fase_2"/>
          <p:cNvSpPr/>
          <p:nvPr/>
        </p:nvSpPr>
        <p:spPr>
          <a:xfrm>
            <a:off x="9985248" y="502920"/>
            <a:ext cx="274320" cy="2743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985248" y="502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2</a:t>
            </a:r>
            <a:endParaRPr lang="en-US" sz="1000" dirty="0"/>
          </a:p>
        </p:txBody>
      </p:sp>
      <p:sp>
        <p:nvSpPr>
          <p:cNvPr id="7" name="fase_3"/>
          <p:cNvSpPr/>
          <p:nvPr/>
        </p:nvSpPr>
        <p:spPr>
          <a:xfrm>
            <a:off x="10323576" y="502920"/>
            <a:ext cx="274320" cy="2743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323576" y="502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3</a:t>
            </a:r>
            <a:endParaRPr lang="en-US" sz="1000" dirty="0"/>
          </a:p>
        </p:txBody>
      </p:sp>
      <p:sp>
        <p:nvSpPr>
          <p:cNvPr id="9" name="fase_4"/>
          <p:cNvSpPr/>
          <p:nvPr/>
        </p:nvSpPr>
        <p:spPr>
          <a:xfrm>
            <a:off x="10661904" y="502920"/>
            <a:ext cx="274320" cy="274320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661904" y="502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3"/>
                </a:solidFill>
              </a:rPr>
              <a:t>4</a:t>
            </a:r>
            <a:endParaRPr lang="en-US" sz="1000" dirty="0"/>
          </a:p>
        </p:txBody>
      </p:sp>
      <p:sp>
        <p:nvSpPr>
          <p:cNvPr id="11" name="fase_5"/>
          <p:cNvSpPr/>
          <p:nvPr/>
        </p:nvSpPr>
        <p:spPr>
          <a:xfrm>
            <a:off x="11000232" y="502920"/>
            <a:ext cx="274320" cy="274320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1000232" y="502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3"/>
                </a:solidFill>
              </a:rPr>
              <a:t>5</a:t>
            </a:r>
            <a:endParaRPr lang="en-US" sz="1000" dirty="0"/>
          </a:p>
        </p:txBody>
      </p:sp>
      <p:sp>
        <p:nvSpPr>
          <p:cNvPr id="13" name="fase_6"/>
          <p:cNvSpPr/>
          <p:nvPr/>
        </p:nvSpPr>
        <p:spPr>
          <a:xfrm>
            <a:off x="11338560" y="502920"/>
            <a:ext cx="274320" cy="274320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1338560" y="502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3"/>
                </a:solidFill>
              </a:rPr>
              <a:t>6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9646920" y="85039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Fase 3 · Preparación</a:t>
            </a:r>
            <a:endParaRPr lang="en-US" sz="1100" dirty="0"/>
          </a:p>
        </p:txBody>
      </p:sp>
      <p:sp>
        <p:nvSpPr>
          <p:cNvPr id="16" name="paso_1"/>
          <p:cNvSpPr/>
          <p:nvPr/>
        </p:nvSpPr>
        <p:spPr>
          <a:xfrm>
            <a:off x="548640" y="1691640"/>
            <a:ext cx="2039112" cy="3154680"/>
          </a:xfrm>
          <a:prstGeom prst="roundRect">
            <a:avLst>
              <a:gd name="adj" fmla="val 358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31520" y="1874520"/>
            <a:ext cx="502920" cy="50292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1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2514600"/>
            <a:ext cx="1673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Verificar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731520" y="3200400"/>
            <a:ext cx="167335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0 nulos fuera de la tercera prenda; las derivadas se reproducen en las 100 000 filas.</a:t>
            </a:r>
            <a:endParaRPr lang="en-US" sz="1400" dirty="0"/>
          </a:p>
        </p:txBody>
      </p:sp>
      <p:sp>
        <p:nvSpPr>
          <p:cNvPr id="20" name="paso_2"/>
          <p:cNvSpPr/>
          <p:nvPr/>
        </p:nvSpPr>
        <p:spPr>
          <a:xfrm>
            <a:off x="2816352" y="1691640"/>
            <a:ext cx="2039112" cy="3154680"/>
          </a:xfrm>
          <a:prstGeom prst="roundRect">
            <a:avLst>
              <a:gd name="adj" fmla="val 358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999232" y="1874520"/>
            <a:ext cx="502920" cy="50292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2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2999232" y="2514600"/>
            <a:ext cx="1673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Categoría «ninguna»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2999232" y="3200400"/>
            <a:ext cx="167335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La tercera prenda vacía es diseño, no dato perdido: se codifica, sin imputar.</a:t>
            </a:r>
            <a:endParaRPr lang="en-US" sz="1400" dirty="0"/>
          </a:p>
        </p:txBody>
      </p:sp>
      <p:sp>
        <p:nvSpPr>
          <p:cNvPr id="24" name="paso_3"/>
          <p:cNvSpPr/>
          <p:nvPr/>
        </p:nvSpPr>
        <p:spPr>
          <a:xfrm>
            <a:off x="5084064" y="1691640"/>
            <a:ext cx="2039112" cy="3154680"/>
          </a:xfrm>
          <a:prstGeom prst="roundRect">
            <a:avLst>
              <a:gd name="adj" fmla="val 358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266944" y="1874520"/>
            <a:ext cx="502920" cy="50292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3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5266944" y="2514600"/>
            <a:ext cx="1673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One-hot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5266944" y="3200400"/>
            <a:ext cx="167335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Atributos por prenda, n_prendas y 4 indicadores de coincidencia. Versión A: 288 columnas.</a:t>
            </a:r>
            <a:endParaRPr lang="en-US" sz="1400" dirty="0"/>
          </a:p>
        </p:txBody>
      </p:sp>
      <p:sp>
        <p:nvSpPr>
          <p:cNvPr id="28" name="paso_4"/>
          <p:cNvSpPr/>
          <p:nvPr/>
        </p:nvSpPr>
        <p:spPr>
          <a:xfrm>
            <a:off x="7351776" y="1691640"/>
            <a:ext cx="2039112" cy="3154680"/>
          </a:xfrm>
          <a:prstGeom prst="roundRect">
            <a:avLst>
              <a:gd name="adj" fmla="val 358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534656" y="1874520"/>
            <a:ext cx="502920" cy="50292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4</a:t>
            </a:r>
            <a:endParaRPr lang="en-US" sz="2000" dirty="0"/>
          </a:p>
        </p:txBody>
      </p:sp>
      <p:sp>
        <p:nvSpPr>
          <p:cNvPr id="30" name="Text 28"/>
          <p:cNvSpPr txBox="1"/>
          <p:nvPr/>
        </p:nvSpPr>
        <p:spPr>
          <a:xfrm>
            <a:off x="7534656" y="2514600"/>
            <a:ext cx="1673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Cruces de par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7534656" y="3200400"/>
            <a:ext cx="167335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Época, estilo y patrón de las prendas 1 y 2, en orden fijo. Versión B: 396 columnas.</a:t>
            </a:r>
            <a:endParaRPr lang="en-US" sz="1400" dirty="0"/>
          </a:p>
        </p:txBody>
      </p:sp>
      <p:sp>
        <p:nvSpPr>
          <p:cNvPr id="32" name="paso_5"/>
          <p:cNvSpPr/>
          <p:nvPr/>
        </p:nvSpPr>
        <p:spPr>
          <a:xfrm>
            <a:off x="9619488" y="1691640"/>
            <a:ext cx="2039112" cy="3154680"/>
          </a:xfrm>
          <a:prstGeom prst="roundRect">
            <a:avLst>
              <a:gd name="adj" fmla="val 358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9802368" y="1874520"/>
            <a:ext cx="502920" cy="502920"/>
          </a:xfrm>
          <a:prstGeom prst="ellipse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5</a:t>
            </a:r>
            <a:endParaRPr lang="en-US" sz="2000" dirty="0"/>
          </a:p>
        </p:txBody>
      </p:sp>
      <p:sp>
        <p:nvSpPr>
          <p:cNvPr id="34" name="Text 32"/>
          <p:cNvSpPr txBox="1"/>
          <p:nvPr/>
        </p:nvSpPr>
        <p:spPr>
          <a:xfrm>
            <a:off x="9802368" y="2514600"/>
            <a:ext cx="1673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Excluir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9802368" y="3200400"/>
            <a:ext cx="167335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Fuera el score (fuga) y los ids de outfit y de prenda. El color no se cruza: 69 niveles.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548640" y="4983480"/>
            <a:ext cx="11109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Partición estratificada por la etiqueta (semilla 42); las versiones A y B usan las mismas filas</a:t>
            </a:r>
            <a:endParaRPr lang="en-US" sz="1300" dirty="0"/>
          </a:p>
        </p:txBody>
      </p:sp>
      <p:sp>
        <p:nvSpPr>
          <p:cNvPr id="37" name="particion_Train"/>
          <p:cNvSpPr/>
          <p:nvPr/>
        </p:nvSpPr>
        <p:spPr>
          <a:xfrm>
            <a:off x="548640" y="5349240"/>
            <a:ext cx="7776972" cy="685800"/>
          </a:xfrm>
          <a:prstGeom prst="rect">
            <a:avLst/>
          </a:prstGeom>
          <a:solidFill>
            <a:schemeClr val="tx1"/>
          </a:solidFill>
          <a:ln w="25400">
            <a:solidFill>
              <a:schemeClr val="bg2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Train · 70 000</a:t>
            </a:r>
            <a:endParaRPr lang="en-US" sz="1500" dirty="0"/>
          </a:p>
        </p:txBody>
      </p:sp>
      <p:sp>
        <p:nvSpPr>
          <p:cNvPr id="38" name="particion_Validación"/>
          <p:cNvSpPr/>
          <p:nvPr/>
        </p:nvSpPr>
        <p:spPr>
          <a:xfrm>
            <a:off x="8325612" y="5349240"/>
            <a:ext cx="1666494" cy="685800"/>
          </a:xfrm>
          <a:prstGeom prst="rect">
            <a:avLst/>
          </a:prstGeom>
          <a:solidFill>
            <a:schemeClr val="accent3"/>
          </a:solidFill>
          <a:ln w="25400">
            <a:solidFill>
              <a:schemeClr val="bg2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Validación · 15 000</a:t>
            </a:r>
            <a:endParaRPr lang="en-US" sz="1500" dirty="0"/>
          </a:p>
        </p:txBody>
      </p:sp>
      <p:sp>
        <p:nvSpPr>
          <p:cNvPr id="39" name="particion_Test"/>
          <p:cNvSpPr/>
          <p:nvPr/>
        </p:nvSpPr>
        <p:spPr>
          <a:xfrm>
            <a:off x="9992106" y="5349240"/>
            <a:ext cx="1666494" cy="685800"/>
          </a:xfrm>
          <a:prstGeom prst="rect">
            <a:avLst/>
          </a:prstGeom>
          <a:solidFill>
            <a:schemeClr val="accent1"/>
          </a:solidFill>
          <a:ln w="25400">
            <a:solidFill>
              <a:schemeClr val="bg2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Test · 15 000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8778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Fase 4: el umbral se elige en validación y el test se usa </a:t>
            </a:r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una sola vez</a:t>
            </a:r>
            <a:endParaRPr lang="en-US" sz="3200" dirty="0"/>
          </a:p>
        </p:txBody>
      </p:sp>
      <p:sp>
        <p:nvSpPr>
          <p:cNvPr id="3" name="fase_1"/>
          <p:cNvSpPr/>
          <p:nvPr/>
        </p:nvSpPr>
        <p:spPr>
          <a:xfrm>
            <a:off x="9646920" y="502920"/>
            <a:ext cx="274320" cy="2743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646920" y="502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1</a:t>
            </a:r>
            <a:endParaRPr lang="en-US" sz="1000" dirty="0"/>
          </a:p>
        </p:txBody>
      </p:sp>
      <p:sp>
        <p:nvSpPr>
          <p:cNvPr id="5" name="fase_2"/>
          <p:cNvSpPr/>
          <p:nvPr/>
        </p:nvSpPr>
        <p:spPr>
          <a:xfrm>
            <a:off x="9985248" y="502920"/>
            <a:ext cx="274320" cy="2743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985248" y="502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2</a:t>
            </a:r>
            <a:endParaRPr lang="en-US" sz="1000" dirty="0"/>
          </a:p>
        </p:txBody>
      </p:sp>
      <p:sp>
        <p:nvSpPr>
          <p:cNvPr id="7" name="fase_3"/>
          <p:cNvSpPr/>
          <p:nvPr/>
        </p:nvSpPr>
        <p:spPr>
          <a:xfrm>
            <a:off x="10323576" y="502920"/>
            <a:ext cx="274320" cy="2743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323576" y="502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3</a:t>
            </a:r>
            <a:endParaRPr lang="en-US" sz="1000" dirty="0"/>
          </a:p>
        </p:txBody>
      </p:sp>
      <p:sp>
        <p:nvSpPr>
          <p:cNvPr id="9" name="fase_4"/>
          <p:cNvSpPr/>
          <p:nvPr/>
        </p:nvSpPr>
        <p:spPr>
          <a:xfrm>
            <a:off x="10661904" y="502920"/>
            <a:ext cx="274320" cy="2743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661904" y="502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4</a:t>
            </a:r>
            <a:endParaRPr lang="en-US" sz="1000" dirty="0"/>
          </a:p>
        </p:txBody>
      </p:sp>
      <p:sp>
        <p:nvSpPr>
          <p:cNvPr id="11" name="fase_5"/>
          <p:cNvSpPr/>
          <p:nvPr/>
        </p:nvSpPr>
        <p:spPr>
          <a:xfrm>
            <a:off x="11000232" y="502920"/>
            <a:ext cx="274320" cy="274320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1000232" y="502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3"/>
                </a:solidFill>
              </a:rPr>
              <a:t>5</a:t>
            </a:r>
            <a:endParaRPr lang="en-US" sz="1000" dirty="0"/>
          </a:p>
        </p:txBody>
      </p:sp>
      <p:sp>
        <p:nvSpPr>
          <p:cNvPr id="13" name="fase_6"/>
          <p:cNvSpPr/>
          <p:nvPr/>
        </p:nvSpPr>
        <p:spPr>
          <a:xfrm>
            <a:off x="11338560" y="502920"/>
            <a:ext cx="274320" cy="274320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1338560" y="502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3"/>
                </a:solidFill>
              </a:rPr>
              <a:t>6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9646920" y="85039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Fase 4 · Modelado</a:t>
            </a:r>
            <a:endParaRPr lang="en-US" sz="1100" dirty="0"/>
          </a:p>
        </p:txBody>
      </p:sp>
      <p:sp>
        <p:nvSpPr>
          <p:cNvPr id="16" name="etapa_Train"/>
          <p:cNvSpPr/>
          <p:nvPr/>
        </p:nvSpPr>
        <p:spPr>
          <a:xfrm>
            <a:off x="548640" y="1691640"/>
            <a:ext cx="3383280" cy="2788920"/>
          </a:xfrm>
          <a:prstGeom prst="roundRect">
            <a:avLst>
              <a:gd name="adj" fmla="val 2623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777240" y="18288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Train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2377440" y="187452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70 000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777240" y="2514600"/>
            <a:ext cx="2926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Se ajustan regresión logística y árbol de decisión (profundidad 3, 5 u 8), cada uno en las versiones A y B.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977640" y="3063240"/>
            <a:ext cx="320040" cy="0"/>
          </a:xfrm>
          <a:prstGeom prst="line">
            <a:avLst/>
          </a:prstGeom>
          <a:noFill/>
          <a:ln w="22225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21" name="etapa_Validación"/>
          <p:cNvSpPr/>
          <p:nvPr/>
        </p:nvSpPr>
        <p:spPr>
          <a:xfrm>
            <a:off x="4343400" y="1691640"/>
            <a:ext cx="3383280" cy="2788920"/>
          </a:xfrm>
          <a:prstGeom prst="roundRect">
            <a:avLst>
              <a:gd name="adj" fmla="val 2623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4572000" y="18288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Validación</a:t>
            </a:r>
            <a:endParaRPr lang="en-US" sz="2600" dirty="0"/>
          </a:p>
        </p:txBody>
      </p:sp>
      <p:sp>
        <p:nvSpPr>
          <p:cNvPr id="23" name="Text 21"/>
          <p:cNvSpPr txBox="1"/>
          <p:nvPr/>
        </p:nvSpPr>
        <p:spPr>
          <a:xfrm>
            <a:off x="6172200" y="187452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15 000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0" y="2514600"/>
            <a:ext cx="2926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Se elige la profundidad y el umbral de decisión entre 0.30 y 0.70. Criterio: F1; desempate por AUC y accuracy.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772400" y="3063240"/>
            <a:ext cx="320040" cy="0"/>
          </a:xfrm>
          <a:prstGeom prst="line">
            <a:avLst/>
          </a:prstGeom>
          <a:noFill/>
          <a:ln w="22225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26" name="etapa_Test"/>
          <p:cNvSpPr/>
          <p:nvPr/>
        </p:nvSpPr>
        <p:spPr>
          <a:xfrm>
            <a:off x="8138160" y="1691640"/>
            <a:ext cx="3383280" cy="2788920"/>
          </a:xfrm>
          <a:prstGeom prst="roundRect">
            <a:avLst>
              <a:gd name="adj" fmla="val 2623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8366760" y="18288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Test</a:t>
            </a:r>
            <a:endParaRPr lang="en-US" sz="2600" dirty="0"/>
          </a:p>
        </p:txBody>
      </p:sp>
      <p:sp>
        <p:nvSpPr>
          <p:cNvPr id="28" name="Text 26"/>
          <p:cNvSpPr txBox="1"/>
          <p:nvPr/>
        </p:nvSpPr>
        <p:spPr>
          <a:xfrm>
            <a:off x="9966960" y="187452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15 000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8366760" y="2514600"/>
            <a:ext cx="2926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Cada finalista se evalúa una sola vez, ya cerrado, contra los umbrales de éxito y la referencia trivial.</a:t>
            </a:r>
            <a:endParaRPr lang="en-US" sz="1600" dirty="0"/>
          </a:p>
        </p:txBody>
      </p:sp>
      <p:sp>
        <p:nvSpPr>
          <p:cNvPr id="30" name="umbrales"/>
          <p:cNvSpPr/>
          <p:nvPr/>
        </p:nvSpPr>
        <p:spPr>
          <a:xfrm>
            <a:off x="548640" y="4846320"/>
            <a:ext cx="11109960" cy="822960"/>
          </a:xfrm>
          <a:prstGeom prst="roundRect">
            <a:avLst>
              <a:gd name="adj" fmla="val 8889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 txBox="1"/>
          <p:nvPr/>
        </p:nvSpPr>
        <p:spPr>
          <a:xfrm>
            <a:off x="777240" y="484632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Umbrales de éxito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3931920" y="5029200"/>
            <a:ext cx="2286000" cy="457200"/>
          </a:xfrm>
          <a:prstGeom prst="roundRect">
            <a:avLst>
              <a:gd name="adj" fmla="val 30000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Accuracy ≥ 0.82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6446520" y="5029200"/>
            <a:ext cx="2286000" cy="457200"/>
          </a:xfrm>
          <a:prstGeom prst="roundRect">
            <a:avLst>
              <a:gd name="adj" fmla="val 30000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F1 ≥ 0.85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8961120" y="5029200"/>
            <a:ext cx="2286000" cy="457200"/>
          </a:xfrm>
          <a:prstGeom prst="roundRect">
            <a:avLst>
              <a:gd name="adj" fmla="val 30000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AUC-ROC ≥ 0.88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8778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Las cuatro configuraciones superan los umbrales; </a:t>
            </a:r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la logística gana</a:t>
            </a:r>
            <a:endParaRPr lang="en-US" sz="3200" dirty="0"/>
          </a:p>
        </p:txBody>
      </p:sp>
      <p:sp>
        <p:nvSpPr>
          <p:cNvPr id="3" name="fase_1"/>
          <p:cNvSpPr/>
          <p:nvPr/>
        </p:nvSpPr>
        <p:spPr>
          <a:xfrm>
            <a:off x="9646920" y="502920"/>
            <a:ext cx="274320" cy="2743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646920" y="502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1</a:t>
            </a:r>
            <a:endParaRPr lang="en-US" sz="1000" dirty="0"/>
          </a:p>
        </p:txBody>
      </p:sp>
      <p:sp>
        <p:nvSpPr>
          <p:cNvPr id="5" name="fase_2"/>
          <p:cNvSpPr/>
          <p:nvPr/>
        </p:nvSpPr>
        <p:spPr>
          <a:xfrm>
            <a:off x="9985248" y="502920"/>
            <a:ext cx="274320" cy="2743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985248" y="502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2</a:t>
            </a:r>
            <a:endParaRPr lang="en-US" sz="1000" dirty="0"/>
          </a:p>
        </p:txBody>
      </p:sp>
      <p:sp>
        <p:nvSpPr>
          <p:cNvPr id="7" name="fase_3"/>
          <p:cNvSpPr/>
          <p:nvPr/>
        </p:nvSpPr>
        <p:spPr>
          <a:xfrm>
            <a:off x="10323576" y="502920"/>
            <a:ext cx="274320" cy="2743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323576" y="502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3</a:t>
            </a:r>
            <a:endParaRPr lang="en-US" sz="1000" dirty="0"/>
          </a:p>
        </p:txBody>
      </p:sp>
      <p:sp>
        <p:nvSpPr>
          <p:cNvPr id="9" name="fase_4"/>
          <p:cNvSpPr/>
          <p:nvPr/>
        </p:nvSpPr>
        <p:spPr>
          <a:xfrm>
            <a:off x="10661904" y="502920"/>
            <a:ext cx="274320" cy="2743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661904" y="502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4</a:t>
            </a:r>
            <a:endParaRPr lang="en-US" sz="1000" dirty="0"/>
          </a:p>
        </p:txBody>
      </p:sp>
      <p:sp>
        <p:nvSpPr>
          <p:cNvPr id="11" name="fase_5"/>
          <p:cNvSpPr/>
          <p:nvPr/>
        </p:nvSpPr>
        <p:spPr>
          <a:xfrm>
            <a:off x="11000232" y="502920"/>
            <a:ext cx="274320" cy="274320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1000232" y="502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3"/>
                </a:solidFill>
              </a:rPr>
              <a:t>5</a:t>
            </a:r>
            <a:endParaRPr lang="en-US" sz="1000" dirty="0"/>
          </a:p>
        </p:txBody>
      </p:sp>
      <p:sp>
        <p:nvSpPr>
          <p:cNvPr id="13" name="fase_6"/>
          <p:cNvSpPr/>
          <p:nvPr/>
        </p:nvSpPr>
        <p:spPr>
          <a:xfrm>
            <a:off x="11338560" y="502920"/>
            <a:ext cx="274320" cy="274320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1338560" y="502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3"/>
                </a:solidFill>
              </a:rPr>
              <a:t>6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9646920" y="85039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Fase 4 · Modelado</a:t>
            </a:r>
            <a:endParaRPr lang="en-US" sz="1100" dirty="0"/>
          </a:p>
        </p:txBody>
      </p:sp>
      <p:graphicFrame>
        <p:nvGraphicFramePr>
          <p:cNvPr id="9" name="tabla_resultado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658368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280160"/>
                <a:gridCol w="1280160"/>
                <a:gridCol w="128016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Modelo (test, 15 000)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F1E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E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E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E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647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Accuracy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F1E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E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E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E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647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F1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F1E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E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E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E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647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AUC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F1E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E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E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E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647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41B33"/>
                          </a:solidFill>
                        </a:rPr>
                        <a:t>Siempre compatible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F1E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E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E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E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41B33"/>
                          </a:solidFill>
                        </a:rPr>
                        <a:t>0.750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F1E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E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E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E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41B33"/>
                          </a:solidFill>
                        </a:rPr>
                        <a:t>0.857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F1E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E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E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E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41B33"/>
                          </a:solidFill>
                        </a:rPr>
                        <a:t>—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F1E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E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E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E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41B33"/>
                          </a:solidFill>
                        </a:rPr>
                        <a:t>Árbol A (prof. 8)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F1E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E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E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E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41B33"/>
                          </a:solidFill>
                        </a:rPr>
                        <a:t>0.912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F1E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E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E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E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41B33"/>
                          </a:solidFill>
                        </a:rPr>
                        <a:t>0.942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F1E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E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E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E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41B33"/>
                          </a:solidFill>
                        </a:rPr>
                        <a:t>0.952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F1E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E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E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E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41B33"/>
                          </a:solidFill>
                        </a:rPr>
                        <a:t>Árbol B (prof. 8)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F1E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E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E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E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41B33"/>
                          </a:solidFill>
                        </a:rPr>
                        <a:t>0.914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F1E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E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E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E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41B33"/>
                          </a:solidFill>
                        </a:rPr>
                        <a:t>0.942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F1E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E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E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E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41B33"/>
                          </a:solidFill>
                        </a:rPr>
                        <a:t>0.957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F1E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E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E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E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41B33"/>
                          </a:solidFill>
                        </a:rPr>
                        <a:t>Logística A (288 col.)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F1E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E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E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E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41B33"/>
                          </a:solidFill>
                        </a:rPr>
                        <a:t>0.982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F1E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E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E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E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41B33"/>
                          </a:solidFill>
                        </a:rPr>
                        <a:t>0.988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F1E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E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E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E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41B33"/>
                          </a:solidFill>
                        </a:rPr>
                        <a:t>0.984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F1E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E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E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E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41B33"/>
                          </a:solidFill>
                        </a:rPr>
                        <a:t>Logística B (396 col.)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F1E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E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E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E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C9C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41B33"/>
                          </a:solidFill>
                        </a:rPr>
                        <a:t>0.992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F1E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E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E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E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C9C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41B33"/>
                          </a:solidFill>
                        </a:rPr>
                        <a:t>0.995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F1E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E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E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E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C9C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41B33"/>
                          </a:solidFill>
                        </a:rPr>
                        <a:t>0.995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F1E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E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E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E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C9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Umbral de éxito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F1E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E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E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E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≥ 0.82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F1E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E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E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E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≥ 0.85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F1E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E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E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E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≥ 0.88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F1E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E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E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E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33"/>
                    </a:solidFill>
                  </a:tcPr>
                </a:tc>
              </a:tr>
            </a:tbl>
          </a:graphicData>
        </a:graphic>
      </p:graphicFrame>
      <p:sp>
        <p:nvSpPr>
          <p:cNvPr id="17" name="Text 14"/>
          <p:cNvSpPr txBox="1"/>
          <p:nvPr/>
        </p:nvSpPr>
        <p:spPr>
          <a:xfrm>
            <a:off x="548640" y="498348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El F1 ≥ 0.85 no discrimina: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la referencia trivial ya lo cumple. Accuracy y AUC son los que separan los modelos.</a:t>
            </a:r>
            <a:endParaRPr lang="en-US" sz="1500" dirty="0"/>
          </a:p>
        </p:txBody>
      </p:sp>
      <p:sp>
        <p:nvSpPr>
          <p:cNvPr id="18" name="caja_roc"/>
          <p:cNvSpPr/>
          <p:nvPr/>
        </p:nvSpPr>
        <p:spPr>
          <a:xfrm>
            <a:off x="7452360" y="1645920"/>
            <a:ext cx="4206240" cy="4160520"/>
          </a:xfrm>
          <a:prstGeom prst="roundRect">
            <a:avLst>
              <a:gd name="adj" fmla="val 1758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19" name="fig_roc" descr="/home/claude/assets/curva_ro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1737360"/>
            <a:ext cx="3931920" cy="3264408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7635240" y="507492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Curva ROC en test: la logística B domina casi todo el rango.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8778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La dificultad real está en los outfits de </a:t>
            </a:r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2 prendas</a:t>
            </a:r>
            <a:endParaRPr lang="en-US" sz="3200" dirty="0"/>
          </a:p>
        </p:txBody>
      </p:sp>
      <p:sp>
        <p:nvSpPr>
          <p:cNvPr id="3" name="fase_1"/>
          <p:cNvSpPr/>
          <p:nvPr/>
        </p:nvSpPr>
        <p:spPr>
          <a:xfrm>
            <a:off x="9646920" y="502920"/>
            <a:ext cx="274320" cy="2743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646920" y="502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1</a:t>
            </a:r>
            <a:endParaRPr lang="en-US" sz="1000" dirty="0"/>
          </a:p>
        </p:txBody>
      </p:sp>
      <p:sp>
        <p:nvSpPr>
          <p:cNvPr id="5" name="fase_2"/>
          <p:cNvSpPr/>
          <p:nvPr/>
        </p:nvSpPr>
        <p:spPr>
          <a:xfrm>
            <a:off x="9985248" y="502920"/>
            <a:ext cx="274320" cy="2743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985248" y="502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2</a:t>
            </a:r>
            <a:endParaRPr lang="en-US" sz="1000" dirty="0"/>
          </a:p>
        </p:txBody>
      </p:sp>
      <p:sp>
        <p:nvSpPr>
          <p:cNvPr id="7" name="fase_3"/>
          <p:cNvSpPr/>
          <p:nvPr/>
        </p:nvSpPr>
        <p:spPr>
          <a:xfrm>
            <a:off x="10323576" y="502920"/>
            <a:ext cx="274320" cy="2743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323576" y="502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3</a:t>
            </a:r>
            <a:endParaRPr lang="en-US" sz="1000" dirty="0"/>
          </a:p>
        </p:txBody>
      </p:sp>
      <p:sp>
        <p:nvSpPr>
          <p:cNvPr id="9" name="fase_4"/>
          <p:cNvSpPr/>
          <p:nvPr/>
        </p:nvSpPr>
        <p:spPr>
          <a:xfrm>
            <a:off x="10661904" y="502920"/>
            <a:ext cx="274320" cy="2743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661904" y="502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4</a:t>
            </a:r>
            <a:endParaRPr lang="en-US" sz="1000" dirty="0"/>
          </a:p>
        </p:txBody>
      </p:sp>
      <p:sp>
        <p:nvSpPr>
          <p:cNvPr id="11" name="fase_5"/>
          <p:cNvSpPr/>
          <p:nvPr/>
        </p:nvSpPr>
        <p:spPr>
          <a:xfrm>
            <a:off x="11000232" y="502920"/>
            <a:ext cx="274320" cy="274320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1000232" y="502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3"/>
                </a:solidFill>
              </a:rPr>
              <a:t>5</a:t>
            </a:r>
            <a:endParaRPr lang="en-US" sz="1000" dirty="0"/>
          </a:p>
        </p:txBody>
      </p:sp>
      <p:sp>
        <p:nvSpPr>
          <p:cNvPr id="13" name="fase_6"/>
          <p:cNvSpPr/>
          <p:nvPr/>
        </p:nvSpPr>
        <p:spPr>
          <a:xfrm>
            <a:off x="11338560" y="502920"/>
            <a:ext cx="274320" cy="274320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1338560" y="502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3"/>
                </a:solidFill>
              </a:rPr>
              <a:t>6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9646920" y="85039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Fase 4 · Modelado</a:t>
            </a:r>
            <a:endParaRPr lang="en-US" sz="1100" dirty="0"/>
          </a:p>
        </p:txBody>
      </p:sp>
      <p:graphicFrame>
        <p:nvGraphicFramePr>
          <p:cNvPr id="16" name="grafico_dos_prendas" descr=""/>
          <p:cNvGraphicFramePr/>
          <p:nvPr/>
        </p:nvGraphicFramePr>
        <p:xfrm>
          <a:off x="548640" y="1645920"/>
          <a:ext cx="6035040" cy="4434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7" name="dato_0"/>
          <p:cNvSpPr/>
          <p:nvPr/>
        </p:nvSpPr>
        <p:spPr>
          <a:xfrm>
            <a:off x="6903720" y="1645920"/>
            <a:ext cx="4754880" cy="1325880"/>
          </a:xfrm>
          <a:prstGeom prst="roundRect">
            <a:avLst>
              <a:gd name="adj" fmla="val 551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7086600" y="173736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</a:t>
            </a:r>
            <a:endParaRPr lang="en-US" sz="3200" dirty="0"/>
          </a:p>
        </p:txBody>
      </p:sp>
      <p:sp>
        <p:nvSpPr>
          <p:cNvPr id="19" name="Text 16"/>
          <p:cNvSpPr txBox="1"/>
          <p:nvPr/>
        </p:nvSpPr>
        <p:spPr>
          <a:xfrm>
            <a:off x="9281160" y="1755648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falsos negativos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7086600" y="242316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Ningún outfit compatible se marca como incompatible.</a:t>
            </a:r>
            <a:endParaRPr lang="en-US" sz="1400" dirty="0"/>
          </a:p>
        </p:txBody>
      </p:sp>
      <p:sp>
        <p:nvSpPr>
          <p:cNvPr id="21" name="dato_1"/>
          <p:cNvSpPr/>
          <p:nvPr/>
        </p:nvSpPr>
        <p:spPr>
          <a:xfrm>
            <a:off x="6903720" y="3200400"/>
            <a:ext cx="4754880" cy="1325880"/>
          </a:xfrm>
          <a:prstGeom prst="roundRect">
            <a:avLst>
              <a:gd name="adj" fmla="val 551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Text 19"/>
          <p:cNvSpPr txBox="1"/>
          <p:nvPr/>
        </p:nvSpPr>
        <p:spPr>
          <a:xfrm>
            <a:off x="7086600" y="329184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277 → 121</a:t>
            </a:r>
            <a:endParaRPr lang="en-US" sz="3200" dirty="0"/>
          </a:p>
        </p:txBody>
      </p:sp>
      <p:sp>
        <p:nvSpPr>
          <p:cNvPr id="23" name="Text 20"/>
          <p:cNvSpPr txBox="1"/>
          <p:nvPr/>
        </p:nvSpPr>
        <p:spPr>
          <a:xfrm>
            <a:off x="9281160" y="3310128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falsos positivos (A → B)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7086600" y="397764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Los cruces de par corrigen más de la mitad de los errores.</a:t>
            </a:r>
            <a:endParaRPr lang="en-US" sz="1400" dirty="0"/>
          </a:p>
        </p:txBody>
      </p:sp>
      <p:sp>
        <p:nvSpPr>
          <p:cNvPr id="25" name="dato_2"/>
          <p:cNvSpPr/>
          <p:nvPr/>
        </p:nvSpPr>
        <p:spPr>
          <a:xfrm>
            <a:off x="6903720" y="4754880"/>
            <a:ext cx="4754880" cy="1325880"/>
          </a:xfrm>
          <a:prstGeom prst="roundRect">
            <a:avLst>
              <a:gd name="adj" fmla="val 551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Text 23"/>
          <p:cNvSpPr txBox="1"/>
          <p:nvPr/>
        </p:nvSpPr>
        <p:spPr>
          <a:xfrm>
            <a:off x="7086600" y="484632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22 de 30</a:t>
            </a:r>
            <a:endParaRPr lang="en-US" sz="3200" dirty="0"/>
          </a:p>
        </p:txBody>
      </p:sp>
      <p:sp>
        <p:nvSpPr>
          <p:cNvPr id="27" name="Text 24"/>
          <p:cNvSpPr txBox="1"/>
          <p:nvPr/>
        </p:nvSpPr>
        <p:spPr>
          <a:xfrm>
            <a:off x="9281160" y="4864608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casos ya estaban en train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7086600" y="553212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Los 30 casos predefinidos no son validación independiente.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8778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Con un baseline en 98 %, lo defendible es </a:t>
            </a:r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no inferioridad</a:t>
            </a:r>
            <a:endParaRPr lang="en-US" sz="3200" dirty="0"/>
          </a:p>
        </p:txBody>
      </p:sp>
      <p:sp>
        <p:nvSpPr>
          <p:cNvPr id="3" name="fase_1"/>
          <p:cNvSpPr/>
          <p:nvPr/>
        </p:nvSpPr>
        <p:spPr>
          <a:xfrm>
            <a:off x="9646920" y="502920"/>
            <a:ext cx="274320" cy="2743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646920" y="502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1</a:t>
            </a:r>
            <a:endParaRPr lang="en-US" sz="1000" dirty="0"/>
          </a:p>
        </p:txBody>
      </p:sp>
      <p:sp>
        <p:nvSpPr>
          <p:cNvPr id="5" name="fase_2"/>
          <p:cNvSpPr/>
          <p:nvPr/>
        </p:nvSpPr>
        <p:spPr>
          <a:xfrm>
            <a:off x="9985248" y="502920"/>
            <a:ext cx="274320" cy="2743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985248" y="502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2</a:t>
            </a:r>
            <a:endParaRPr lang="en-US" sz="1000" dirty="0"/>
          </a:p>
        </p:txBody>
      </p:sp>
      <p:sp>
        <p:nvSpPr>
          <p:cNvPr id="7" name="fase_3"/>
          <p:cNvSpPr/>
          <p:nvPr/>
        </p:nvSpPr>
        <p:spPr>
          <a:xfrm>
            <a:off x="10323576" y="502920"/>
            <a:ext cx="274320" cy="2743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323576" y="502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3</a:t>
            </a:r>
            <a:endParaRPr lang="en-US" sz="1000" dirty="0"/>
          </a:p>
        </p:txBody>
      </p:sp>
      <p:sp>
        <p:nvSpPr>
          <p:cNvPr id="9" name="fase_4"/>
          <p:cNvSpPr/>
          <p:nvPr/>
        </p:nvSpPr>
        <p:spPr>
          <a:xfrm>
            <a:off x="10661904" y="502920"/>
            <a:ext cx="274320" cy="2743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661904" y="502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4</a:t>
            </a:r>
            <a:endParaRPr lang="en-US" sz="1000" dirty="0"/>
          </a:p>
        </p:txBody>
      </p:sp>
      <p:sp>
        <p:nvSpPr>
          <p:cNvPr id="11" name="fase_5"/>
          <p:cNvSpPr/>
          <p:nvPr/>
        </p:nvSpPr>
        <p:spPr>
          <a:xfrm>
            <a:off x="11000232" y="502920"/>
            <a:ext cx="274320" cy="274320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1000232" y="502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3"/>
                </a:solidFill>
              </a:rPr>
              <a:t>5</a:t>
            </a:r>
            <a:endParaRPr lang="en-US" sz="1000" dirty="0"/>
          </a:p>
        </p:txBody>
      </p:sp>
      <p:sp>
        <p:nvSpPr>
          <p:cNvPr id="13" name="fase_6"/>
          <p:cNvSpPr/>
          <p:nvPr/>
        </p:nvSpPr>
        <p:spPr>
          <a:xfrm>
            <a:off x="11338560" y="502920"/>
            <a:ext cx="274320" cy="274320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1338560" y="502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3"/>
                </a:solidFill>
              </a:rPr>
              <a:t>6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9646920" y="85039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Fase 4 · Modelado</a:t>
            </a:r>
            <a:endParaRPr lang="en-US" sz="1100" dirty="0"/>
          </a:p>
        </p:txBody>
      </p:sp>
      <p:sp>
        <p:nvSpPr>
          <p:cNvPr id="16" name="limite_1"/>
          <p:cNvSpPr/>
          <p:nvPr/>
        </p:nvSpPr>
        <p:spPr>
          <a:xfrm>
            <a:off x="548640" y="1691640"/>
            <a:ext cx="3703320" cy="1965960"/>
          </a:xfrm>
          <a:prstGeom prst="roundRect">
            <a:avLst>
              <a:gd name="adj" fmla="val 372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777240" y="182880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01</a:t>
            </a:r>
            <a:endParaRPr lang="en-US" sz="28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23317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Generado por reglas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777240" y="269748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Sin validación humana, y contradice la intuición: la misma época baja la compatibilidad.</a:t>
            </a:r>
            <a:endParaRPr lang="en-US" sz="1400" dirty="0"/>
          </a:p>
        </p:txBody>
      </p:sp>
      <p:sp>
        <p:nvSpPr>
          <p:cNvPr id="20" name="limite_2"/>
          <p:cNvSpPr/>
          <p:nvPr/>
        </p:nvSpPr>
        <p:spPr>
          <a:xfrm>
            <a:off x="4526280" y="1691640"/>
            <a:ext cx="3703320" cy="1965960"/>
          </a:xfrm>
          <a:prstGeom prst="roundRect">
            <a:avLst>
              <a:gd name="adj" fmla="val 372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4754880" y="182880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02</a:t>
            </a:r>
            <a:endParaRPr lang="en-US" sz="2800" dirty="0"/>
          </a:p>
        </p:txBody>
      </p:sp>
      <p:sp>
        <p:nvSpPr>
          <p:cNvPr id="22" name="Text 20"/>
          <p:cNvSpPr txBox="1"/>
          <p:nvPr/>
        </p:nvSpPr>
        <p:spPr>
          <a:xfrm>
            <a:off x="4754880" y="23317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Métricas infladas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4754880" y="269748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El 45 % de los outfits tiene 3 prendas y siempre es compatible.</a:t>
            </a:r>
            <a:endParaRPr lang="en-US" sz="1400" dirty="0"/>
          </a:p>
        </p:txBody>
      </p:sp>
      <p:sp>
        <p:nvSpPr>
          <p:cNvPr id="24" name="limite_3"/>
          <p:cNvSpPr/>
          <p:nvPr/>
        </p:nvSpPr>
        <p:spPr>
          <a:xfrm>
            <a:off x="548640" y="3931920"/>
            <a:ext cx="3703320" cy="1965960"/>
          </a:xfrm>
          <a:prstGeom prst="roundRect">
            <a:avLst>
              <a:gd name="adj" fmla="val 372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777240" y="406908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03</a:t>
            </a:r>
            <a:endParaRPr lang="en-US" sz="2800" dirty="0"/>
          </a:p>
        </p:txBody>
      </p:sp>
      <p:sp>
        <p:nvSpPr>
          <p:cNvPr id="26" name="Text 24"/>
          <p:cNvSpPr txBox="1"/>
          <p:nvPr/>
        </p:nvSpPr>
        <p:spPr>
          <a:xfrm>
            <a:off x="777240" y="45720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Casos no independientes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777240" y="493776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22 de los 30 casos predefinidos ya están en el train.</a:t>
            </a:r>
            <a:endParaRPr lang="en-US" sz="1400" dirty="0"/>
          </a:p>
        </p:txBody>
      </p:sp>
      <p:sp>
        <p:nvSpPr>
          <p:cNvPr id="28" name="limite_4"/>
          <p:cNvSpPr/>
          <p:nvPr/>
        </p:nvSpPr>
        <p:spPr>
          <a:xfrm>
            <a:off x="4526280" y="3931920"/>
            <a:ext cx="3703320" cy="1965960"/>
          </a:xfrm>
          <a:prstGeom prst="roundRect">
            <a:avLst>
              <a:gd name="adj" fmla="val 372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4754880" y="406908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04</a:t>
            </a:r>
            <a:endParaRPr lang="en-US" sz="2800" dirty="0"/>
          </a:p>
        </p:txBody>
      </p:sp>
      <p:sp>
        <p:nvSpPr>
          <p:cNvPr id="30" name="Text 28"/>
          <p:cNvSpPr txBox="1"/>
          <p:nvPr/>
        </p:nvSpPr>
        <p:spPr>
          <a:xfrm>
            <a:off x="4754880" y="45720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Peso en colores puntuales</a:t>
            </a:r>
            <a:endParaRPr lang="en-US" sz="1700" dirty="0"/>
          </a:p>
        </p:txBody>
      </p:sp>
      <p:sp>
        <p:nvSpPr>
          <p:cNvPr id="31" name="Text 29"/>
          <p:cNvSpPr txBox="1"/>
          <p:nvPr/>
        </p:nvSpPr>
        <p:spPr>
          <a:xfrm>
            <a:off x="4754880" y="4937760"/>
            <a:ext cx="3291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Los coeficientes más altos son colores con pocos ejemplos: riesgo de memorizar.</a:t>
            </a:r>
            <a:endParaRPr lang="en-US" sz="1400" dirty="0"/>
          </a:p>
        </p:txBody>
      </p:sp>
      <p:pic>
        <p:nvPicPr>
          <p:cNvPr id="32" name="foto_ropa_doblada" descr="/home/claude/assets/stack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71432" y="2194560"/>
            <a:ext cx="3017520" cy="2798064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8778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Siguientes pasos: </a:t>
            </a:r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contrastar H1</a:t>
            </a:r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 contra el baseline</a:t>
            </a:r>
            <a:endParaRPr lang="en-US" sz="3200" dirty="0"/>
          </a:p>
        </p:txBody>
      </p:sp>
      <p:sp>
        <p:nvSpPr>
          <p:cNvPr id="3" name="fase_1"/>
          <p:cNvSpPr/>
          <p:nvPr/>
        </p:nvSpPr>
        <p:spPr>
          <a:xfrm>
            <a:off x="9646920" y="502920"/>
            <a:ext cx="274320" cy="2743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646920" y="502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1</a:t>
            </a:r>
            <a:endParaRPr lang="en-US" sz="1000" dirty="0"/>
          </a:p>
        </p:txBody>
      </p:sp>
      <p:sp>
        <p:nvSpPr>
          <p:cNvPr id="5" name="fase_2"/>
          <p:cNvSpPr/>
          <p:nvPr/>
        </p:nvSpPr>
        <p:spPr>
          <a:xfrm>
            <a:off x="9985248" y="502920"/>
            <a:ext cx="274320" cy="2743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985248" y="502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2</a:t>
            </a:r>
            <a:endParaRPr lang="en-US" sz="1000" dirty="0"/>
          </a:p>
        </p:txBody>
      </p:sp>
      <p:sp>
        <p:nvSpPr>
          <p:cNvPr id="7" name="fase_3"/>
          <p:cNvSpPr/>
          <p:nvPr/>
        </p:nvSpPr>
        <p:spPr>
          <a:xfrm>
            <a:off x="10323576" y="502920"/>
            <a:ext cx="274320" cy="2743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323576" y="502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3</a:t>
            </a:r>
            <a:endParaRPr lang="en-US" sz="1000" dirty="0"/>
          </a:p>
        </p:txBody>
      </p:sp>
      <p:sp>
        <p:nvSpPr>
          <p:cNvPr id="9" name="fase_4"/>
          <p:cNvSpPr/>
          <p:nvPr/>
        </p:nvSpPr>
        <p:spPr>
          <a:xfrm>
            <a:off x="10661904" y="502920"/>
            <a:ext cx="274320" cy="2743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661904" y="502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4</a:t>
            </a:r>
            <a:endParaRPr lang="en-US" sz="1000" dirty="0"/>
          </a:p>
        </p:txBody>
      </p:sp>
      <p:sp>
        <p:nvSpPr>
          <p:cNvPr id="11" name="fase_5"/>
          <p:cNvSpPr/>
          <p:nvPr/>
        </p:nvSpPr>
        <p:spPr>
          <a:xfrm>
            <a:off x="11000232" y="502920"/>
            <a:ext cx="274320" cy="274320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1000232" y="502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3"/>
                </a:solidFill>
              </a:rPr>
              <a:t>5</a:t>
            </a:r>
            <a:endParaRPr lang="en-US" sz="1000" dirty="0"/>
          </a:p>
        </p:txBody>
      </p:sp>
      <p:sp>
        <p:nvSpPr>
          <p:cNvPr id="13" name="fase_6"/>
          <p:cNvSpPr/>
          <p:nvPr/>
        </p:nvSpPr>
        <p:spPr>
          <a:xfrm>
            <a:off x="11338560" y="502920"/>
            <a:ext cx="274320" cy="274320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1338560" y="5029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3"/>
                </a:solidFill>
              </a:rPr>
              <a:t>6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9646920" y="85039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Fase 4 · Modelado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1645920"/>
            <a:ext cx="822960" cy="91440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01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1554480" y="164592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Entrenar la red con la conectividad del GFS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Los atributos entran por LC4 y LPLC2; la decisión se lee en TTMn y el score en PSI → DLMn.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548640" y="2761488"/>
            <a:ext cx="822960" cy="91440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02</a:t>
            </a:r>
            <a:endParaRPr lang="en-US" sz="2600" dirty="0"/>
          </a:p>
        </p:txBody>
      </p:sp>
      <p:sp>
        <p:nvSpPr>
          <p:cNvPr id="19" name="Text 17"/>
          <p:cNvSpPr txBox="1"/>
          <p:nvPr/>
        </p:nvSpPr>
        <p:spPr>
          <a:xfrm>
            <a:off x="1554480" y="2761488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Comparar con una red aleatoria del mismo tamaño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Separa el efecto de la estructura del efecto del número de neuronas y conexiones.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548640" y="3877056"/>
            <a:ext cx="822960" cy="91440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03</a:t>
            </a:r>
            <a:endParaRPr lang="en-US" sz="2600" dirty="0"/>
          </a:p>
        </p:txBody>
      </p:sp>
      <p:sp>
        <p:nvSpPr>
          <p:cNvPr id="21" name="Text 19"/>
          <p:cNvSpPr txBox="1"/>
          <p:nvPr/>
        </p:nvSpPr>
        <p:spPr>
          <a:xfrm>
            <a:off x="1554480" y="3877056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Probar con pocos datos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500, 1 000 y 5 000 outfits: donde la estructura podría aportar frente a un baseline saturado.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548640" y="4992624"/>
            <a:ext cx="822960" cy="91440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bg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04</a:t>
            </a:r>
            <a:endParaRPr lang="en-US" sz="2600" dirty="0"/>
          </a:p>
        </p:txBody>
      </p:sp>
      <p:sp>
        <p:nvSpPr>
          <p:cNvPr id="23" name="Text 21"/>
          <p:cNvSpPr txBox="1"/>
          <p:nvPr/>
        </p:nvSpPr>
        <p:spPr>
          <a:xfrm>
            <a:off x="1554480" y="4992624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Evaluar en 2 prendas y analizar errores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Métricas en el subgrupo difícil, los 8 casos fuera de train y los falsos positivos.</a:t>
            </a:r>
            <a:endParaRPr lang="en-US" sz="1700" dirty="0"/>
          </a:p>
        </p:txBody>
      </p:sp>
      <p:pic>
        <p:nvPicPr>
          <p:cNvPr id="24" name="foto_perchero_2" descr="/home/claude/assets/rack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97112" y="1783080"/>
            <a:ext cx="3291840" cy="39319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94560"/>
            <a:ext cx="6858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6600" b="1" dirty="0">
                <a:solidFill>
                  <a:schemeClr val="bg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¿Preguntas</a:t>
            </a:r>
            <a:pPr algn="l" indent="0" marL="0">
              <a:buNone/>
            </a:pPr>
            <a:r>
              <a:rPr lang="en-US" sz="6600" b="1" dirty="0">
                <a:solidFill>
                  <a:schemeClr val="accent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?</a:t>
            </a:r>
            <a:endParaRPr lang="en-US" sz="6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84048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Nicole Sihuincha Schermuly · Sergio Sebastian Iglesias Pérez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429768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Modelo Fly · Hito 2 · Machine Learning, UPC</a:t>
            </a:r>
            <a:endParaRPr lang="en-US" sz="1400" dirty="0"/>
          </a:p>
        </p:txBody>
      </p:sp>
      <p:pic>
        <p:nvPicPr>
          <p:cNvPr id="5" name="foto_cierre" descr="/home/claude/assets/r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2148840"/>
            <a:ext cx="4663440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94560"/>
            <a:ext cx="6858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6600" b="1" dirty="0">
                <a:solidFill>
                  <a:schemeClr val="bg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Respaldo</a:t>
            </a:r>
            <a:endParaRPr lang="en-US" sz="6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840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accent2"/>
                </a:solidFill>
              </a:rPr>
              <a:t>Diapositivas de apoyo para la ronda de preguntas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8778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A1 · El subgrafo conserva las conexiones </a:t>
            </a:r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de la literatura</a:t>
            </a:r>
            <a:endParaRPr lang="en-US" sz="3200" dirty="0"/>
          </a:p>
        </p:txBody>
      </p:sp>
      <p:sp>
        <p:nvSpPr>
          <p:cNvPr id="3" name="caja_subgrafo"/>
          <p:cNvSpPr/>
          <p:nvPr/>
        </p:nvSpPr>
        <p:spPr>
          <a:xfrm>
            <a:off x="548640" y="1645920"/>
            <a:ext cx="5577840" cy="4343400"/>
          </a:xfrm>
          <a:prstGeom prst="roundRect">
            <a:avLst>
              <a:gd name="adj" fmla="val 1684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4" name="fig_subgrafo" descr="/home/claude/assets/subgraf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783080"/>
            <a:ext cx="5303520" cy="3968496"/>
          </a:xfrm>
          <a:prstGeom prst="rect">
            <a:avLst/>
          </a:prstGeom>
        </p:spPr>
      </p:pic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46520" y="1691640"/>
          <a:ext cx="521208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137160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Conexión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F1E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E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E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E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647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Peso</a:t>
                      </a:r>
                      <a:endParaRPr lang="en-US" sz="14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F1E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E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E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E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A647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41B33"/>
                          </a:solidFill>
                        </a:rPr>
                        <a:t>Entrada visual → Giant Fiber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F1E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E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E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E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141B33"/>
                          </a:solidFill>
                        </a:rPr>
                        <a:t>11 224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F1E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E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E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E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41B33"/>
                          </a:solidFill>
                        </a:rPr>
                        <a:t>Giant Fiber → TTMn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F1E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E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E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E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141B33"/>
                          </a:solidFill>
                        </a:rPr>
                        <a:t>90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F1E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E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E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E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41B33"/>
                          </a:solidFill>
                        </a:rPr>
                        <a:t>Giant Fiber → PSI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F1E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E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E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E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141B33"/>
                          </a:solidFill>
                        </a:rPr>
                        <a:t>16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F1E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E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E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E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41B33"/>
                          </a:solidFill>
                        </a:rPr>
                        <a:t>PSI → DLMn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F1E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E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E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E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141B33"/>
                          </a:solidFill>
                        </a:rPr>
                        <a:t>449</a:t>
                      </a:r>
                      <a:endParaRPr lang="en-US" sz="1500" dirty="0"/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F1E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1E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1E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1EF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6446520" y="4069080"/>
            <a:ext cx="5212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La entrada visual suma LC4 (6 362) y LPLC2 (4 862). El peso es el número de sinapsis sumado por par de neuronas; neuPrint no separa sinapsis químicas y eléctricas. AN08B098 queda fuera como extensión posible.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8778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A2 · La logística apoya su decisión sobre todo en el </a:t>
            </a:r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color</a:t>
            </a:r>
            <a:endParaRPr lang="en-US" sz="3200" dirty="0"/>
          </a:p>
        </p:txBody>
      </p:sp>
      <p:sp>
        <p:nvSpPr>
          <p:cNvPr id="3" name="caja_importancia"/>
          <p:cNvSpPr/>
          <p:nvPr/>
        </p:nvSpPr>
        <p:spPr>
          <a:xfrm>
            <a:off x="548640" y="1600200"/>
            <a:ext cx="4617720" cy="4480560"/>
          </a:xfrm>
          <a:prstGeom prst="roundRect">
            <a:avLst>
              <a:gd name="adj" fmla="val 1633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4" name="fig_importancia" descr="/home/claude/assets/importancia_top1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45920"/>
            <a:ext cx="4389120" cy="439826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532120" y="1691640"/>
            <a:ext cx="612648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Los 15 coeficientes más altos de la versión A son colores puntuales. En la B aparecen además pares de época (Años 80 | Años 90, Años 60 | Tumblr).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El color tiene 69 niveles y muchos tienen pocos ejemplos: un coeficiente alto puede reflejar memorización de niveles raros, no una regla de moda.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En la V de Cramér, el color (0.301) es lo segundo más asociado a la etiqueta, después del número de prendas (0.523).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8778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A3 · El Ridge separa las clases, pero </a:t>
            </a:r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no ordena dentro</a:t>
            </a:r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 de cada una</a:t>
            </a:r>
            <a:endParaRPr lang="en-US" sz="3200" dirty="0"/>
          </a:p>
        </p:txBody>
      </p:sp>
      <p:sp>
        <p:nvSpPr>
          <p:cNvPr id="3" name="caja_ridge"/>
          <p:cNvSpPr/>
          <p:nvPr/>
        </p:nvSpPr>
        <p:spPr>
          <a:xfrm>
            <a:off x="548640" y="1645920"/>
            <a:ext cx="7498080" cy="3886200"/>
          </a:xfrm>
          <a:prstGeom prst="roundRect">
            <a:avLst>
              <a:gd name="adj" fmla="val 1882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4" name="fig_ridge" descr="/home/claude/assets/scatter_sco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737360"/>
            <a:ext cx="7315200" cy="360273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321040" y="1691640"/>
            <a:ext cx="33375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Versión A: R² 0.674, RMSE 0.175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Versión B: R² 0.742, RMSE 0.155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Dentro de los compatibles, la predicción queda en una franja casi plana (de 0.65 a 0.90). El R² viene casi todo de separar las dos clases, no de afinar el score.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8778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A4 · Ninguna regla simple supera a </a:t>
            </a:r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predecir siempre compatible</a:t>
            </a:r>
            <a:endParaRPr lang="en-US" sz="3200" dirty="0"/>
          </a:p>
        </p:txBody>
      </p:sp>
      <p:sp>
        <p:nvSpPr>
          <p:cNvPr id="3" name="caja_cramer"/>
          <p:cNvSpPr/>
          <p:nvPr/>
        </p:nvSpPr>
        <p:spPr>
          <a:xfrm>
            <a:off x="548640" y="1645920"/>
            <a:ext cx="5486400" cy="3291840"/>
          </a:xfrm>
          <a:prstGeom prst="roundRect">
            <a:avLst>
              <a:gd name="adj" fmla="val 2222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4" name="fig_cramer" descr="/home/claude/assets/f_cram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737360"/>
            <a:ext cx="5303520" cy="3026664"/>
          </a:xfrm>
          <a:prstGeom prst="rect">
            <a:avLst/>
          </a:prstGeom>
        </p:spPr>
      </p:pic>
      <p:sp>
        <p:nvSpPr>
          <p:cNvPr id="5" name="caja_reglas"/>
          <p:cNvSpPr/>
          <p:nvPr/>
        </p:nvSpPr>
        <p:spPr>
          <a:xfrm>
            <a:off x="6263640" y="1645920"/>
            <a:ext cx="5394960" cy="3291840"/>
          </a:xfrm>
          <a:prstGeom prst="roundRect">
            <a:avLst>
              <a:gd name="adj" fmla="val 2222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6" name="fig_reglas" descr="/home/claude/assets/g_regla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2057400"/>
            <a:ext cx="5212080" cy="240487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48640" y="512064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El número de prendas (0.523) y el color (0.301) son lo más asociado a la etiqueta.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6263640" y="5120640"/>
            <a:ext cx="5394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La mejor regla (n_prendas = 3) llega a 0.701 de accuracy, por debajo del 0.750 de la referencia trivial.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8778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A5 · El árbol se equivoca en </a:t>
            </a:r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las dos direcciones</a:t>
            </a:r>
            <a:endParaRPr lang="en-US" sz="3200" dirty="0"/>
          </a:p>
        </p:txBody>
      </p:sp>
      <p:sp>
        <p:nvSpPr>
          <p:cNvPr id="3" name="caja_matrices"/>
          <p:cNvSpPr/>
          <p:nvPr/>
        </p:nvSpPr>
        <p:spPr>
          <a:xfrm>
            <a:off x="548640" y="1600200"/>
            <a:ext cx="5257800" cy="4480560"/>
          </a:xfrm>
          <a:prstGeom prst="roundRect">
            <a:avLst>
              <a:gd name="adj" fmla="val 1633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4" name="fig_matrices" descr="/home/claude/assets/matriz_confus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91640"/>
            <a:ext cx="5074920" cy="43434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172200" y="1691640"/>
            <a:ext cx="548640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Logística: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0 falsos negativos; solo falla al marcar incompatibles como compatibles (277 en A, 121 en B).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Árbol (profundidad 8):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falla en ambos sentidos. En A: 768 falsos positivos y 548 falsos negativos; en B: 552 y 744.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En los outfits de 3 prendas (6 764 en test) las dos logísticas aciertan todos.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odelo Fly">
  <a:themeElements>
    <a:clrScheme name="Modelo Fly">
      <a:dk1>
        <a:srgbClr val="141B33"/>
      </a:dk1>
      <a:lt1>
        <a:srgbClr val="FFFFFF"/>
      </a:lt1>
      <a:dk2>
        <a:srgbClr val="2A3452"/>
      </a:dk2>
      <a:lt2>
        <a:srgbClr val="F1EFEC"/>
      </a:lt2>
      <a:accent1>
        <a:srgbClr val="D90F27"/>
      </a:accent1>
      <a:accent2>
        <a:srgbClr val="F6C9CF"/>
      </a:accent2>
      <a:accent3>
        <a:srgbClr val="5A6478"/>
      </a:accent3>
      <a:accent4>
        <a:srgbClr val="E4E1DC"/>
      </a:accent4>
      <a:accent5>
        <a:srgbClr val="8C1020"/>
      </a:accent5>
      <a:accent6>
        <a:srgbClr val="2E7D5B"/>
      </a:accent6>
      <a:hlink>
        <a:srgbClr val="D90F27"/>
      </a:hlink>
      <a:folHlink>
        <a:srgbClr val="8C1020"/>
      </a:folHlink>
    </a:clrScheme>
    <a:fontScheme name="Modelo Fly">
      <a:majorFont>
        <a:latin typeface="Arial Narrow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Modelo Fly · Hito 2</dc:title>
  <dc:subject>PptxGenJS Presentation</dc:subject>
  <dc:creator>Nicole Sihuincha Schermuly, Sergio Sebastian Iglesias Pérez</dc:creator>
  <cp:lastModifiedBy>Nicole Sihuincha Schermuly, Sergio Sebastian Iglesias Pérez</cp:lastModifiedBy>
  <cp:revision>1</cp:revision>
  <dcterms:created xsi:type="dcterms:W3CDTF">2026-10-05T17:40:35Z</dcterms:created>
  <dcterms:modified xsi:type="dcterms:W3CDTF">2026-10-05T17:40:35Z</dcterms:modified>
</cp:coreProperties>
</file>